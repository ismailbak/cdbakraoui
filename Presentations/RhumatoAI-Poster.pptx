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12930188"/>
  <p:notesSz cx="1293018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30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18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920240"/>
          </a:xfrm>
          <a:prstGeom prst="rect">
            <a:avLst/>
          </a:prstGeom>
          <a:solidFill>
            <a:srgbClr val="0D1B2A"/>
          </a:solidFill>
          <a:ln w="12700">
            <a:solidFill>
              <a:srgbClr val="0D1B2A"/>
            </a:solidFill>
            <a:prstDash val="solid"/>
          </a:ln>
        </p:spPr>
        <p:txBody>
          <a:bodyPr/>
          <a:lstStyle/>
          <a:p>
            <a:endParaRPr lang="en-US" dirty="0"/>
          </a:p>
        </p:txBody>
      </p:sp>
      <p:sp>
        <p:nvSpPr>
          <p:cNvPr id="3" name="Shape 1"/>
          <p:cNvSpPr/>
          <p:nvPr/>
        </p:nvSpPr>
        <p:spPr>
          <a:xfrm>
            <a:off x="0" y="1920240"/>
            <a:ext cx="9144000" cy="54864"/>
          </a:xfrm>
          <a:prstGeom prst="rect">
            <a:avLst/>
          </a:prstGeom>
          <a:solidFill>
            <a:srgbClr val="0D9488"/>
          </a:solidFill>
          <a:ln w="12700">
            <a:solidFill>
              <a:srgbClr val="0D9488"/>
            </a:solidFill>
            <a:prstDash val="solid"/>
          </a:ln>
        </p:spPr>
        <p:txBody>
          <a:bodyPr/>
          <a:lstStyle/>
          <a:p>
            <a:endParaRPr lang="en-US"/>
          </a:p>
        </p:txBody>
      </p:sp>
      <p:sp>
        <p:nvSpPr>
          <p:cNvPr id="4" name="Shape 2"/>
          <p:cNvSpPr/>
          <p:nvPr/>
        </p:nvSpPr>
        <p:spPr>
          <a:xfrm>
            <a:off x="3131819" y="200470"/>
            <a:ext cx="3081530" cy="347472"/>
          </a:xfrm>
          <a:prstGeom prst="roundRect">
            <a:avLst>
              <a:gd name="adj" fmla="val 14286"/>
            </a:avLst>
          </a:prstGeom>
          <a:solidFill>
            <a:srgbClr val="0D9488">
              <a:alpha val="70000"/>
            </a:srgbClr>
          </a:solidFill>
          <a:ln w="12700">
            <a:solidFill>
              <a:srgbClr val="0D9488"/>
            </a:solidFill>
            <a:prstDash val="solid"/>
          </a:ln>
        </p:spPr>
        <p:txBody>
          <a:bodyPr/>
          <a:lstStyle/>
          <a:p>
            <a:endParaRPr lang="en-US"/>
          </a:p>
        </p:txBody>
      </p:sp>
      <p:sp>
        <p:nvSpPr>
          <p:cNvPr id="5" name="Text 3"/>
          <p:cNvSpPr/>
          <p:nvPr/>
        </p:nvSpPr>
        <p:spPr>
          <a:xfrm>
            <a:off x="3131819" y="246888"/>
            <a:ext cx="3081529" cy="256032"/>
          </a:xfrm>
          <a:prstGeom prst="rect">
            <a:avLst/>
          </a:prstGeom>
          <a:noFill/>
          <a:ln/>
        </p:spPr>
        <p:txBody>
          <a:bodyPr wrap="square" lIns="0" tIns="0" rIns="0" bIns="0" rtlCol="0" anchor="ctr"/>
          <a:lstStyle/>
          <a:p>
            <a:pPr marL="0" indent="0" algn="ctr">
              <a:buNone/>
            </a:pPr>
            <a:r>
              <a:rPr lang="en-US" sz="1000" dirty="0">
                <a:solidFill>
                  <a:srgbClr val="CCFBF1"/>
                </a:solidFill>
                <a:latin typeface="Calibri" pitchFamily="34" charset="0"/>
                <a:ea typeface="Calibri" pitchFamily="34" charset="-122"/>
                <a:cs typeface="Calibri" pitchFamily="34" charset="-120"/>
              </a:rPr>
              <a:t>2ᵉ Journée Doctorant · LSIA &amp; ENSA Tanger · 17 Avril 2026</a:t>
            </a:r>
            <a:endParaRPr lang="en-US" sz="1000" dirty="0"/>
          </a:p>
        </p:txBody>
      </p:sp>
      <p:sp>
        <p:nvSpPr>
          <p:cNvPr id="6" name="Text 4"/>
          <p:cNvSpPr/>
          <p:nvPr/>
        </p:nvSpPr>
        <p:spPr>
          <a:xfrm>
            <a:off x="305477" y="445007"/>
            <a:ext cx="8412480" cy="822960"/>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Implications of Artificial Intelligence for Clinical Decision Support in Rheumatology</a:t>
            </a:r>
            <a:endParaRPr lang="en-US" dirty="0"/>
          </a:p>
        </p:txBody>
      </p:sp>
      <p:sp>
        <p:nvSpPr>
          <p:cNvPr id="7" name="Text 5"/>
          <p:cNvSpPr/>
          <p:nvPr/>
        </p:nvSpPr>
        <p:spPr>
          <a:xfrm>
            <a:off x="456542" y="1047496"/>
            <a:ext cx="8412480" cy="237744"/>
          </a:xfrm>
          <a:prstGeom prst="rect">
            <a:avLst/>
          </a:prstGeom>
          <a:noFill/>
          <a:ln/>
        </p:spPr>
        <p:txBody>
          <a:bodyPr wrap="square" lIns="0" tIns="0" rIns="0" bIns="0" rtlCol="0" anchor="ctr"/>
          <a:lstStyle/>
          <a:p>
            <a:pPr algn="ctr"/>
            <a:r>
              <a:rPr lang="en-US" sz="1200" i="1" dirty="0">
                <a:solidFill>
                  <a:srgbClr val="A5F3FC"/>
                </a:solidFill>
                <a:latin typeface="Calibri" pitchFamily="34" charset="0"/>
                <a:ea typeface="Calibri" pitchFamily="34" charset="-122"/>
                <a:cs typeface="Calibri" pitchFamily="34" charset="-120"/>
              </a:rPr>
              <a:t>M. Ismail Bakraoui </a:t>
            </a:r>
            <a:r>
              <a:rPr lang="en-US" sz="1400" dirty="0">
                <a:solidFill>
                  <a:schemeClr val="bg1"/>
                </a:solidFill>
              </a:rPr>
              <a:t>¹</a:t>
            </a:r>
            <a:r>
              <a:rPr lang="en-US" sz="1400" dirty="0"/>
              <a:t> </a:t>
            </a:r>
            <a:r>
              <a:rPr lang="en-US" sz="1200" i="1" dirty="0">
                <a:solidFill>
                  <a:srgbClr val="A5F3FC"/>
                </a:solidFill>
                <a:latin typeface="Calibri" pitchFamily="34" charset="0"/>
                <a:ea typeface="Calibri" pitchFamily="34" charset="-122"/>
                <a:cs typeface="Calibri" pitchFamily="34" charset="-120"/>
              </a:rPr>
              <a:t> · Mme. Khaoula </a:t>
            </a:r>
            <a:r>
              <a:rPr lang="en-US" sz="1200" i="1" dirty="0" err="1">
                <a:solidFill>
                  <a:srgbClr val="A5F3FC"/>
                </a:solidFill>
                <a:latin typeface="Calibri" pitchFamily="34" charset="0"/>
                <a:ea typeface="Calibri" pitchFamily="34" charset="-122"/>
                <a:cs typeface="Calibri" pitchFamily="34" charset="-120"/>
              </a:rPr>
              <a:t>Ajbal</a:t>
            </a:r>
            <a:r>
              <a:rPr lang="en-US" sz="1200" i="1" dirty="0">
                <a:solidFill>
                  <a:srgbClr val="A5F3FC"/>
                </a:solidFill>
                <a:latin typeface="Calibri" pitchFamily="34" charset="0"/>
                <a:ea typeface="Calibri" pitchFamily="34" charset="-122"/>
                <a:cs typeface="Calibri" pitchFamily="34" charset="-120"/>
              </a:rPr>
              <a:t> </a:t>
            </a:r>
            <a:r>
              <a:rPr lang="en-US" sz="1400" dirty="0">
                <a:solidFill>
                  <a:schemeClr val="bg1"/>
                </a:solidFill>
              </a:rPr>
              <a:t>¹</a:t>
            </a:r>
            <a:r>
              <a:rPr lang="en-US" sz="1200" i="1" dirty="0">
                <a:solidFill>
                  <a:srgbClr val="A5F3FC"/>
                </a:solidFill>
                <a:latin typeface="Calibri" pitchFamily="34" charset="0"/>
                <a:ea typeface="Calibri" pitchFamily="34" charset="-122"/>
                <a:cs typeface="Calibri" pitchFamily="34" charset="-120"/>
              </a:rPr>
              <a:t> · M. Samy </a:t>
            </a:r>
            <a:r>
              <a:rPr lang="en-US" sz="1200" i="1" dirty="0" err="1">
                <a:solidFill>
                  <a:srgbClr val="A5F3FC"/>
                </a:solidFill>
                <a:latin typeface="Calibri" pitchFamily="34" charset="0"/>
                <a:ea typeface="Calibri" pitchFamily="34" charset="-122"/>
                <a:cs typeface="Calibri" pitchFamily="34" charset="-120"/>
              </a:rPr>
              <a:t>Housbane</a:t>
            </a:r>
            <a:r>
              <a:rPr lang="en-US" sz="1200" i="1" dirty="0">
                <a:solidFill>
                  <a:srgbClr val="A5F3FC"/>
                </a:solidFill>
                <a:latin typeface="Calibri" pitchFamily="34" charset="0"/>
                <a:ea typeface="Calibri" pitchFamily="34" charset="-122"/>
                <a:cs typeface="Calibri" pitchFamily="34" charset="-120"/>
              </a:rPr>
              <a:t> </a:t>
            </a:r>
            <a:r>
              <a:rPr lang="en-US" sz="1200" dirty="0">
                <a:solidFill>
                  <a:schemeClr val="bg1"/>
                </a:solidFill>
              </a:rPr>
              <a:t>²~³</a:t>
            </a:r>
          </a:p>
        </p:txBody>
      </p:sp>
      <p:sp>
        <p:nvSpPr>
          <p:cNvPr id="8" name="Text 6"/>
          <p:cNvSpPr/>
          <p:nvPr/>
        </p:nvSpPr>
        <p:spPr>
          <a:xfrm>
            <a:off x="365760" y="1560768"/>
            <a:ext cx="8412480" cy="201168"/>
          </a:xfrm>
          <a:prstGeom prst="rect">
            <a:avLst/>
          </a:prstGeom>
          <a:noFill/>
          <a:ln/>
        </p:spPr>
        <p:txBody>
          <a:bodyPr wrap="square" lIns="0" tIns="0" rIns="0" bIns="0" rtlCol="0" anchor="ctr"/>
          <a:lstStyle/>
          <a:p>
            <a:pPr algn="ctr"/>
            <a:r>
              <a:rPr lang="en-US" sz="1000" dirty="0">
                <a:solidFill>
                  <a:srgbClr val="7DD3FC"/>
                </a:solidFill>
                <a:latin typeface="Calibri" pitchFamily="34" charset="0"/>
                <a:ea typeface="Calibri" pitchFamily="34" charset="-122"/>
                <a:cs typeface="Calibri" pitchFamily="34" charset="-120"/>
              </a:rPr>
              <a:t>1 –  Laboratory of intelligent systems and applications, EMSI Tangier</a:t>
            </a:r>
          </a:p>
          <a:p>
            <a:pPr algn="ctr"/>
            <a:r>
              <a:rPr lang="en-US" sz="1000" dirty="0">
                <a:solidFill>
                  <a:srgbClr val="7DD3FC"/>
                </a:solidFill>
                <a:latin typeface="Calibri" pitchFamily="34" charset="0"/>
                <a:ea typeface="Calibri" pitchFamily="34" charset="-122"/>
                <a:cs typeface="Calibri" pitchFamily="34" charset="-120"/>
              </a:rPr>
              <a:t> 2 – Laboratory of Therapeutic innovation and artificial intelligence in health, FMPC – Hassan II, University of Casablanca</a:t>
            </a:r>
          </a:p>
          <a:p>
            <a:pPr algn="ctr"/>
            <a:r>
              <a:rPr lang="en-US" sz="1000" dirty="0">
                <a:solidFill>
                  <a:srgbClr val="7DD3FC"/>
                </a:solidFill>
                <a:latin typeface="Calibri" pitchFamily="34" charset="0"/>
                <a:ea typeface="Calibri" pitchFamily="34" charset="-122"/>
                <a:cs typeface="Calibri" pitchFamily="34" charset="-120"/>
              </a:rPr>
              <a:t>3 – IBN ROCHD University Hospital Center, Casablanca</a:t>
            </a:r>
          </a:p>
          <a:p>
            <a:pPr algn="ctr"/>
            <a:endParaRPr lang="en-US" sz="1000" dirty="0"/>
          </a:p>
        </p:txBody>
      </p:sp>
      <p:grpSp>
        <p:nvGrpSpPr>
          <p:cNvPr id="58" name="Groupe 57">
            <a:extLst>
              <a:ext uri="{FF2B5EF4-FFF2-40B4-BE49-F238E27FC236}">
                <a16:creationId xmlns:a16="http://schemas.microsoft.com/office/drawing/2014/main" id="{EBFAAAD8-DC3A-0E62-77F0-3057F4BC2760}"/>
              </a:ext>
            </a:extLst>
          </p:cNvPr>
          <p:cNvGrpSpPr/>
          <p:nvPr/>
        </p:nvGrpSpPr>
        <p:grpSpPr>
          <a:xfrm>
            <a:off x="159173" y="2165604"/>
            <a:ext cx="4352544" cy="2578608"/>
            <a:chOff x="-5403185" y="1917918"/>
            <a:chExt cx="4352544" cy="2578608"/>
          </a:xfrm>
        </p:grpSpPr>
        <p:sp>
          <p:nvSpPr>
            <p:cNvPr id="9" name="Shape 7"/>
            <p:cNvSpPr/>
            <p:nvPr/>
          </p:nvSpPr>
          <p:spPr>
            <a:xfrm>
              <a:off x="-5403185" y="1917918"/>
              <a:ext cx="4352544" cy="2578608"/>
            </a:xfrm>
            <a:prstGeom prst="rect">
              <a:avLst/>
            </a:prstGeom>
            <a:solidFill>
              <a:srgbClr val="FFFFFF"/>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US"/>
            </a:p>
          </p:txBody>
        </p:sp>
        <p:sp>
          <p:nvSpPr>
            <p:cNvPr id="10" name="Shape 8"/>
            <p:cNvSpPr/>
            <p:nvPr/>
          </p:nvSpPr>
          <p:spPr>
            <a:xfrm>
              <a:off x="-5177052" y="2148840"/>
              <a:ext cx="45720" cy="201168"/>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5038659" y="2112264"/>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ABSTRACT</a:t>
              </a:r>
              <a:endParaRPr lang="en-US" sz="900" dirty="0"/>
            </a:p>
          </p:txBody>
        </p:sp>
        <p:sp>
          <p:nvSpPr>
            <p:cNvPr id="12" name="Text 10"/>
            <p:cNvSpPr/>
            <p:nvPr/>
          </p:nvSpPr>
          <p:spPr>
            <a:xfrm>
              <a:off x="-5220305" y="2557998"/>
              <a:ext cx="3986784" cy="1938528"/>
            </a:xfrm>
            <a:prstGeom prst="rect">
              <a:avLst/>
            </a:prstGeom>
            <a:noFill/>
            <a:ln/>
          </p:spPr>
          <p:txBody>
            <a:bodyPr wrap="square" lIns="0" tIns="0" rIns="0" bIns="0" rtlCol="0" anchor="t"/>
            <a:lstStyle/>
            <a:p>
              <a:pPr marL="0" indent="0" algn="l">
                <a:spcAft>
                  <a:spcPts val="200"/>
                </a:spcAft>
                <a:buNone/>
              </a:pPr>
              <a:r>
                <a:rPr lang="en-US" sz="780" dirty="0">
                  <a:solidFill>
                    <a:srgbClr val="475569"/>
                  </a:solidFill>
                  <a:latin typeface="Calibri" pitchFamily="34" charset="0"/>
                  <a:ea typeface="Calibri" pitchFamily="34" charset="-122"/>
                  <a:cs typeface="Calibri" pitchFamily="34" charset="-120"/>
                </a:rPr>
                <a:t>The integration of AI into clinical practice is constrained not only by model capability, but also by challenges in data governance, system integration, and real-world usability. This study introduces RhumatoAI — a locally deployed, full-stack clinical decision support system designed for rheumatology, combining structured patient management with large language model (LLM) inference.</a:t>
              </a:r>
              <a:endParaRPr lang="en-US" sz="780" dirty="0"/>
            </a:p>
            <a:p>
              <a:pPr marL="0" indent="0" algn="l">
                <a:spcAft>
                  <a:spcPts val="200"/>
                </a:spcAft>
                <a:buNone/>
              </a:pPr>
              <a:endParaRPr lang="en-US" sz="780" dirty="0"/>
            </a:p>
            <a:p>
              <a:pPr marL="0" indent="0" algn="l">
                <a:spcAft>
                  <a:spcPts val="200"/>
                </a:spcAft>
                <a:buNone/>
              </a:pPr>
              <a:r>
                <a:rPr lang="en-US" sz="780" dirty="0">
                  <a:solidFill>
                    <a:srgbClr val="475569"/>
                  </a:solidFill>
                  <a:latin typeface="Calibri" pitchFamily="34" charset="0"/>
                  <a:ea typeface="Calibri" pitchFamily="34" charset="-122"/>
                  <a:cs typeface="Calibri" pitchFamily="34" charset="-120"/>
                </a:rPr>
                <a:t>Deployed at CHU Ibn </a:t>
              </a:r>
              <a:r>
                <a:rPr lang="en-US" sz="780" dirty="0" err="1">
                  <a:solidFill>
                    <a:srgbClr val="475569"/>
                  </a:solidFill>
                  <a:latin typeface="Calibri" pitchFamily="34" charset="0"/>
                  <a:ea typeface="Calibri" pitchFamily="34" charset="-122"/>
                  <a:cs typeface="Calibri" pitchFamily="34" charset="-120"/>
                </a:rPr>
                <a:t>Rochd</a:t>
              </a:r>
              <a:r>
                <a:rPr lang="en-US" sz="780" dirty="0">
                  <a:solidFill>
                    <a:srgbClr val="475569"/>
                  </a:solidFill>
                  <a:latin typeface="Calibri" pitchFamily="34" charset="0"/>
                  <a:ea typeface="Calibri" pitchFamily="34" charset="-122"/>
                  <a:cs typeface="Calibri" pitchFamily="34" charset="-120"/>
                </a:rPr>
                <a:t> (Casablanca), the system enables secure, real-time interaction with patient data and AI-assisted clinical support within a fully on-premise infrastructure. Leveraging a </a:t>
              </a:r>
              <a:r>
                <a:rPr lang="en-US" sz="780" dirty="0" err="1">
                  <a:solidFill>
                    <a:srgbClr val="475569"/>
                  </a:solidFill>
                  <a:latin typeface="Calibri" pitchFamily="34" charset="0"/>
                  <a:ea typeface="Calibri" pitchFamily="34" charset="-122"/>
                  <a:cs typeface="Calibri" pitchFamily="34" charset="-120"/>
                </a:rPr>
                <a:t>FastAPI</a:t>
              </a:r>
              <a:r>
                <a:rPr lang="en-US" sz="780" dirty="0">
                  <a:solidFill>
                    <a:srgbClr val="475569"/>
                  </a:solidFill>
                  <a:latin typeface="Calibri" pitchFamily="34" charset="0"/>
                  <a:ea typeface="Calibri" pitchFamily="34" charset="-122"/>
                  <a:cs typeface="Calibri" pitchFamily="34" charset="-120"/>
                </a:rPr>
                <a:t> backend, cross-platform interfaces, and </a:t>
              </a:r>
              <a:r>
                <a:rPr lang="en-US" sz="780" dirty="0" err="1">
                  <a:solidFill>
                    <a:srgbClr val="475569"/>
                  </a:solidFill>
                  <a:latin typeface="Calibri" pitchFamily="34" charset="0"/>
                  <a:ea typeface="Calibri" pitchFamily="34" charset="-122"/>
                  <a:cs typeface="Calibri" pitchFamily="34" charset="-120"/>
                </a:rPr>
                <a:t>BioMistral</a:t>
              </a:r>
              <a:r>
                <a:rPr lang="en-US" sz="780" dirty="0">
                  <a:solidFill>
                    <a:srgbClr val="475569"/>
                  </a:solidFill>
                  <a:latin typeface="Calibri" pitchFamily="34" charset="0"/>
                  <a:ea typeface="Calibri" pitchFamily="34" charset="-122"/>
                  <a:cs typeface="Calibri" pitchFamily="34" charset="-120"/>
                </a:rPr>
                <a:t> inference via </a:t>
              </a:r>
              <a:r>
                <a:rPr lang="en-US" sz="780" dirty="0" err="1">
                  <a:solidFill>
                    <a:srgbClr val="475569"/>
                  </a:solidFill>
                  <a:latin typeface="Calibri" pitchFamily="34" charset="0"/>
                  <a:ea typeface="Calibri" pitchFamily="34" charset="-122"/>
                  <a:cs typeface="Calibri" pitchFamily="34" charset="-120"/>
                </a:rPr>
                <a:t>Ollama</a:t>
              </a:r>
              <a:r>
                <a:rPr lang="en-US" sz="780" dirty="0">
                  <a:solidFill>
                    <a:srgbClr val="475569"/>
                  </a:solidFill>
                  <a:latin typeface="Calibri" pitchFamily="34" charset="0"/>
                  <a:ea typeface="Calibri" pitchFamily="34" charset="-122"/>
                  <a:cs typeface="Calibri" pitchFamily="34" charset="-120"/>
                </a:rPr>
                <a:t>, the platform achieves response latencies of 2–5 seconds under operational conditions.</a:t>
              </a:r>
              <a:endParaRPr lang="en-US" sz="780" dirty="0"/>
            </a:p>
            <a:p>
              <a:pPr marL="0" indent="0" algn="l">
                <a:spcAft>
                  <a:spcPts val="200"/>
                </a:spcAft>
                <a:buNone/>
              </a:pPr>
              <a:endParaRPr lang="en-US" sz="780" dirty="0"/>
            </a:p>
            <a:p>
              <a:pPr marL="0" indent="0" algn="l">
                <a:spcAft>
                  <a:spcPts val="200"/>
                </a:spcAft>
                <a:buNone/>
              </a:pPr>
              <a:r>
                <a:rPr lang="en-US" sz="780" dirty="0">
                  <a:solidFill>
                    <a:srgbClr val="475569"/>
                  </a:solidFill>
                  <a:latin typeface="Calibri" pitchFamily="34" charset="0"/>
                  <a:ea typeface="Calibri" pitchFamily="34" charset="-122"/>
                  <a:cs typeface="Calibri" pitchFamily="34" charset="-120"/>
                </a:rPr>
                <a:t>The findings suggest that clinically viable AI systems can be realized without reliance on cloud architectures, provided that system design explicitly addresses latency, privacy constraints, and workflow integration.</a:t>
              </a:r>
              <a:endParaRPr lang="en-US" sz="780" dirty="0"/>
            </a:p>
          </p:txBody>
        </p:sp>
      </p:grpSp>
      <p:grpSp>
        <p:nvGrpSpPr>
          <p:cNvPr id="56" name="Groupe 55">
            <a:extLst>
              <a:ext uri="{FF2B5EF4-FFF2-40B4-BE49-F238E27FC236}">
                <a16:creationId xmlns:a16="http://schemas.microsoft.com/office/drawing/2014/main" id="{73C9CF90-7814-EE84-9563-1FD4AF2D94E8}"/>
              </a:ext>
            </a:extLst>
          </p:cNvPr>
          <p:cNvGrpSpPr/>
          <p:nvPr/>
        </p:nvGrpSpPr>
        <p:grpSpPr>
          <a:xfrm>
            <a:off x="159173" y="4896478"/>
            <a:ext cx="4352544" cy="2634306"/>
            <a:chOff x="9692350" y="2559486"/>
            <a:chExt cx="4352544" cy="2634306"/>
          </a:xfrm>
        </p:grpSpPr>
        <p:sp>
          <p:nvSpPr>
            <p:cNvPr id="13" name="Shape 11"/>
            <p:cNvSpPr/>
            <p:nvPr/>
          </p:nvSpPr>
          <p:spPr>
            <a:xfrm>
              <a:off x="9692350" y="2559486"/>
              <a:ext cx="4352544" cy="2578608"/>
            </a:xfrm>
            <a:prstGeom prst="rect">
              <a:avLst/>
            </a:prstGeom>
            <a:solidFill>
              <a:srgbClr val="FFFFFF"/>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US"/>
            </a:p>
          </p:txBody>
        </p:sp>
        <p:grpSp>
          <p:nvGrpSpPr>
            <p:cNvPr id="54" name="Groupe 53">
              <a:extLst>
                <a:ext uri="{FF2B5EF4-FFF2-40B4-BE49-F238E27FC236}">
                  <a16:creationId xmlns:a16="http://schemas.microsoft.com/office/drawing/2014/main" id="{F77C3D36-2C93-4B43-2544-EE9714F1D19E}"/>
                </a:ext>
              </a:extLst>
            </p:cNvPr>
            <p:cNvGrpSpPr/>
            <p:nvPr/>
          </p:nvGrpSpPr>
          <p:grpSpPr>
            <a:xfrm>
              <a:off x="9875230" y="2889504"/>
              <a:ext cx="3986784" cy="2304288"/>
              <a:chOff x="4809744" y="2212848"/>
              <a:chExt cx="3986784" cy="2304288"/>
            </a:xfrm>
          </p:grpSpPr>
          <p:sp>
            <p:nvSpPr>
              <p:cNvPr id="14" name="Shape 12"/>
              <p:cNvSpPr/>
              <p:nvPr/>
            </p:nvSpPr>
            <p:spPr>
              <a:xfrm>
                <a:off x="4809744" y="2249424"/>
                <a:ext cx="45720" cy="201168"/>
              </a:xfrm>
              <a:prstGeom prst="rect">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4901184" y="2212848"/>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INTRODUCTION</a:t>
                </a:r>
                <a:endParaRPr lang="en-US" sz="900" dirty="0"/>
              </a:p>
            </p:txBody>
          </p:sp>
          <p:sp>
            <p:nvSpPr>
              <p:cNvPr id="16" name="Text 14"/>
              <p:cNvSpPr/>
              <p:nvPr/>
            </p:nvSpPr>
            <p:spPr>
              <a:xfrm>
                <a:off x="4809744" y="2578608"/>
                <a:ext cx="3986784" cy="1938528"/>
              </a:xfrm>
              <a:prstGeom prst="rect">
                <a:avLst/>
              </a:prstGeom>
              <a:noFill/>
              <a:ln/>
            </p:spPr>
            <p:txBody>
              <a:bodyPr wrap="square" lIns="0" tIns="0" rIns="0" bIns="0" rtlCol="0" anchor="t"/>
              <a:lstStyle/>
              <a:p>
                <a:pPr>
                  <a:spcAft>
                    <a:spcPts val="200"/>
                  </a:spcAft>
                </a:pPr>
                <a:r>
                  <a:rPr lang="en-US" sz="780" dirty="0">
                    <a:solidFill>
                      <a:srgbClr val="475569"/>
                    </a:solidFill>
                    <a:latin typeface="Calibri" pitchFamily="34" charset="0"/>
                    <a:ea typeface="Calibri" pitchFamily="34" charset="-122"/>
                    <a:cs typeface="Calibri" pitchFamily="34" charset="-120"/>
                  </a:rPr>
                  <a:t>Recent advances in machine learning have significantly expanded clinical decision support in rheumatology. Supervised models predict disease activity and guide therapeutic choices, while unsupervised approaches stratify patients into clinically meaningful phenotypes, enabling more personalized care ¹.</a:t>
                </a:r>
                <a:endParaRPr lang="en-US" sz="780" dirty="0"/>
              </a:p>
              <a:p>
                <a:pPr marL="0" indent="0" algn="l">
                  <a:spcAft>
                    <a:spcPts val="200"/>
                  </a:spcAft>
                  <a:buNone/>
                </a:pPr>
                <a:endParaRPr lang="en-US" sz="780" dirty="0"/>
              </a:p>
              <a:p>
                <a:pPr>
                  <a:spcAft>
                    <a:spcPts val="200"/>
                  </a:spcAft>
                </a:pPr>
                <a:r>
                  <a:rPr lang="en-US" sz="780" dirty="0">
                    <a:solidFill>
                      <a:srgbClr val="475569"/>
                    </a:solidFill>
                    <a:latin typeface="Calibri" pitchFamily="34" charset="0"/>
                    <a:ea typeface="Calibri" pitchFamily="34" charset="-122"/>
                    <a:cs typeface="Calibri" pitchFamily="34" charset="-120"/>
                  </a:rPr>
                  <a:t>Generative AI — particularly large language models such as GPT-4 represents a further paradigm shift, demonstrating promising diagnostic support, enhanced patient education, and accelerated research workflows ⁴.</a:t>
                </a:r>
              </a:p>
              <a:p>
                <a:pPr marL="0" indent="0" algn="l">
                  <a:spcAft>
                    <a:spcPts val="200"/>
                  </a:spcAft>
                  <a:buNone/>
                </a:pPr>
                <a:endParaRPr lang="en-US" sz="780" dirty="0"/>
              </a:p>
              <a:p>
                <a:pPr marL="0" indent="0" algn="l">
                  <a:spcAft>
                    <a:spcPts val="200"/>
                  </a:spcAft>
                  <a:buNone/>
                </a:pPr>
                <a:r>
                  <a:rPr lang="en-US" sz="780" dirty="0">
                    <a:solidFill>
                      <a:srgbClr val="475569"/>
                    </a:solidFill>
                    <a:latin typeface="Calibri" pitchFamily="34" charset="0"/>
                    <a:ea typeface="Calibri" pitchFamily="34" charset="-122"/>
                    <a:cs typeface="Calibri" pitchFamily="34" charset="-120"/>
                  </a:rPr>
                  <a:t>However, translation into routine clinical practice remains limited due to algorithmic bias, insufficient external validation, lack of model transparency, and gaps in clinician training ². These constraints underscore the need for rigorous evaluation frameworks and structured integration strategies.</a:t>
                </a:r>
                <a:endParaRPr lang="en-US" sz="780" dirty="0"/>
              </a:p>
            </p:txBody>
          </p:sp>
        </p:grpSp>
      </p:grpSp>
      <p:grpSp>
        <p:nvGrpSpPr>
          <p:cNvPr id="76" name="Groupe 75">
            <a:extLst>
              <a:ext uri="{FF2B5EF4-FFF2-40B4-BE49-F238E27FC236}">
                <a16:creationId xmlns:a16="http://schemas.microsoft.com/office/drawing/2014/main" id="{53128383-5E54-433D-8D07-755CAD782BDD}"/>
              </a:ext>
            </a:extLst>
          </p:cNvPr>
          <p:cNvGrpSpPr/>
          <p:nvPr/>
        </p:nvGrpSpPr>
        <p:grpSpPr>
          <a:xfrm>
            <a:off x="4737850" y="8788346"/>
            <a:ext cx="4352544" cy="2651760"/>
            <a:chOff x="9761414" y="4966848"/>
            <a:chExt cx="4352544" cy="2651760"/>
          </a:xfrm>
        </p:grpSpPr>
        <p:sp>
          <p:nvSpPr>
            <p:cNvPr id="64" name="Shape 62"/>
            <p:cNvSpPr/>
            <p:nvPr/>
          </p:nvSpPr>
          <p:spPr>
            <a:xfrm>
              <a:off x="9761414" y="4966848"/>
              <a:ext cx="4352544" cy="2651760"/>
            </a:xfrm>
            <a:prstGeom prst="rect">
              <a:avLst/>
            </a:prstGeom>
            <a:solidFill>
              <a:srgbClr val="FFFFFF"/>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US"/>
            </a:p>
          </p:txBody>
        </p:sp>
        <p:grpSp>
          <p:nvGrpSpPr>
            <p:cNvPr id="75" name="Groupe 74">
              <a:extLst>
                <a:ext uri="{FF2B5EF4-FFF2-40B4-BE49-F238E27FC236}">
                  <a16:creationId xmlns:a16="http://schemas.microsoft.com/office/drawing/2014/main" id="{5F54767B-9B8F-7D38-37ED-56F6C7C32923}"/>
                </a:ext>
              </a:extLst>
            </p:cNvPr>
            <p:cNvGrpSpPr/>
            <p:nvPr/>
          </p:nvGrpSpPr>
          <p:grpSpPr>
            <a:xfrm>
              <a:off x="9985442" y="5104008"/>
              <a:ext cx="3995928" cy="2505456"/>
              <a:chOff x="4800600" y="8796528"/>
              <a:chExt cx="3995928" cy="2505456"/>
            </a:xfrm>
          </p:grpSpPr>
          <p:sp>
            <p:nvSpPr>
              <p:cNvPr id="65" name="Shape 63"/>
              <p:cNvSpPr/>
              <p:nvPr/>
            </p:nvSpPr>
            <p:spPr>
              <a:xfrm>
                <a:off x="4800600" y="8833104"/>
                <a:ext cx="45720" cy="201168"/>
              </a:xfrm>
              <a:prstGeom prst="rect">
                <a:avLst/>
              </a:prstGeom>
              <a:solidFill>
                <a:srgbClr val="0D9488"/>
              </a:solidFill>
              <a:ln w="12700">
                <a:solidFill>
                  <a:srgbClr val="0D9488"/>
                </a:solidFill>
                <a:prstDash val="solid"/>
              </a:ln>
            </p:spPr>
            <p:txBody>
              <a:bodyPr/>
              <a:lstStyle/>
              <a:p>
                <a:endParaRPr lang="en-US"/>
              </a:p>
            </p:txBody>
          </p:sp>
          <p:sp>
            <p:nvSpPr>
              <p:cNvPr id="66" name="Text 64"/>
              <p:cNvSpPr/>
              <p:nvPr/>
            </p:nvSpPr>
            <p:spPr>
              <a:xfrm>
                <a:off x="4901184" y="8796528"/>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CONCLUSION &amp; PERSPECTIVES</a:t>
                </a:r>
                <a:endParaRPr lang="en-US" sz="1200" dirty="0"/>
              </a:p>
            </p:txBody>
          </p:sp>
          <p:sp>
            <p:nvSpPr>
              <p:cNvPr id="67" name="Text 65"/>
              <p:cNvSpPr/>
              <p:nvPr/>
            </p:nvSpPr>
            <p:spPr>
              <a:xfrm>
                <a:off x="4809744" y="9290304"/>
                <a:ext cx="3986784" cy="2011680"/>
              </a:xfrm>
              <a:prstGeom prst="rect">
                <a:avLst/>
              </a:prstGeom>
              <a:noFill/>
              <a:ln/>
            </p:spPr>
            <p:txBody>
              <a:bodyPr wrap="square" lIns="0" tIns="0" rIns="0" bIns="0" rtlCol="0" anchor="t"/>
              <a:lstStyle/>
              <a:p>
                <a:pPr marL="0" indent="0" algn="l">
                  <a:spcAft>
                    <a:spcPts val="200"/>
                  </a:spcAft>
                  <a:buNone/>
                </a:pPr>
                <a:r>
                  <a:rPr lang="en-US" sz="750" dirty="0">
                    <a:solidFill>
                      <a:srgbClr val="475569"/>
                    </a:solidFill>
                    <a:latin typeface="Calibri" pitchFamily="34" charset="0"/>
                    <a:ea typeface="Calibri" pitchFamily="34" charset="-122"/>
                    <a:cs typeface="Calibri" pitchFamily="34" charset="-120"/>
                  </a:rPr>
                  <a:t>This work presents the first complete implementation of a locally-governed clinical AI platform that preserves data sovereignty while enabling sophisticated decision support. The bidirectional care coordination model positions AI as a knowledge synthesis layer — not an autonomous authority — maintaining clinical judgment as the primary accountability locus.</a:t>
                </a:r>
                <a:endParaRPr lang="en-US" sz="750" dirty="0"/>
              </a:p>
              <a:p>
                <a:pPr marL="0" indent="0" algn="l">
                  <a:spcAft>
                    <a:spcPts val="200"/>
                  </a:spcAft>
                  <a:buNone/>
                </a:pPr>
                <a:endParaRPr lang="en-US" sz="750" dirty="0"/>
              </a:p>
              <a:p>
                <a:pPr marL="0" indent="0" algn="l">
                  <a:spcAft>
                    <a:spcPts val="200"/>
                  </a:spcAft>
                  <a:buNone/>
                </a:pPr>
                <a:r>
                  <a:rPr lang="en-US" sz="750" dirty="0">
                    <a:solidFill>
                      <a:srgbClr val="475569"/>
                    </a:solidFill>
                    <a:latin typeface="Calibri" pitchFamily="34" charset="0"/>
                    <a:ea typeface="Calibri" pitchFamily="34" charset="-122"/>
                    <a:cs typeface="Calibri" pitchFamily="34" charset="-120"/>
                  </a:rPr>
                  <a:t>Demonstrated performance characteristics (50–200 ms retrieval · 2–5 s consultation) establish benchmarks suitable for routine clinical workflows. Comprehensive audit logging and RBAC mechanisms provide institutional compliance verification essential under CNDP frameworks.</a:t>
                </a:r>
                <a:endParaRPr lang="en-US" sz="750" dirty="0"/>
              </a:p>
              <a:p>
                <a:pPr marL="0" indent="0" algn="l">
                  <a:spcAft>
                    <a:spcPts val="200"/>
                  </a:spcAft>
                  <a:buNone/>
                </a:pPr>
                <a:endParaRPr lang="en-US" sz="750" dirty="0"/>
              </a:p>
              <a:p>
                <a:pPr marL="0" indent="0" algn="l">
                  <a:spcAft>
                    <a:spcPts val="200"/>
                  </a:spcAft>
                  <a:buNone/>
                </a:pPr>
                <a:r>
                  <a:rPr lang="en-US" sz="750" dirty="0">
                    <a:solidFill>
                      <a:srgbClr val="475569"/>
                    </a:solidFill>
                    <a:latin typeface="Calibri" pitchFamily="34" charset="0"/>
                    <a:ea typeface="Calibri" pitchFamily="34" charset="-122"/>
                    <a:cs typeface="Calibri" pitchFamily="34" charset="-120"/>
                  </a:rPr>
                  <a:t>Future research should examine: comparative effectiveness of local vs. distributed architectures; patient outcomes across coordination models; economic analysis of deployment approaches; and interoperability standards for independent institutional systems.</a:t>
                </a:r>
                <a:endParaRPr lang="en-US" sz="750" dirty="0"/>
              </a:p>
              <a:p>
                <a:pPr marL="0" indent="0" algn="l">
                  <a:spcAft>
                    <a:spcPts val="200"/>
                  </a:spcAft>
                  <a:buNone/>
                </a:pPr>
                <a:endParaRPr lang="en-US" sz="750" dirty="0"/>
              </a:p>
              <a:p>
                <a:pPr marL="0" indent="0" algn="l">
                  <a:spcAft>
                    <a:spcPts val="200"/>
                  </a:spcAft>
                  <a:buNone/>
                </a:pPr>
                <a:r>
                  <a:rPr lang="en-US" sz="750" dirty="0">
                    <a:solidFill>
                      <a:srgbClr val="475569"/>
                    </a:solidFill>
                    <a:latin typeface="Calibri" pitchFamily="34" charset="0"/>
                    <a:ea typeface="Calibri" pitchFamily="34" charset="-122"/>
                    <a:cs typeface="Calibri" pitchFamily="34" charset="-120"/>
                  </a:rPr>
                  <a:t>RhumatoAI demonstrates that sophisticated clinical intelligence need not depend on external infrastructure or compromise institutional autonomy.</a:t>
                </a:r>
                <a:endParaRPr lang="en-US" sz="750" dirty="0"/>
              </a:p>
            </p:txBody>
          </p:sp>
        </p:grpSp>
      </p:grpSp>
      <p:sp>
        <p:nvSpPr>
          <p:cNvPr id="68" name="Shape 66"/>
          <p:cNvSpPr/>
          <p:nvPr/>
        </p:nvSpPr>
        <p:spPr>
          <a:xfrm>
            <a:off x="0" y="11512296"/>
            <a:ext cx="9144000" cy="45720"/>
          </a:xfrm>
          <a:prstGeom prst="rect">
            <a:avLst/>
          </a:prstGeom>
          <a:solidFill>
            <a:srgbClr val="0D9488"/>
          </a:solidFill>
          <a:ln w="12700">
            <a:solidFill>
              <a:srgbClr val="0D9488"/>
            </a:solidFill>
            <a:prstDash val="solid"/>
          </a:ln>
        </p:spPr>
        <p:txBody>
          <a:bodyPr/>
          <a:lstStyle/>
          <a:p>
            <a:endParaRPr lang="en-US"/>
          </a:p>
        </p:txBody>
      </p:sp>
      <p:sp>
        <p:nvSpPr>
          <p:cNvPr id="69" name="Shape 67"/>
          <p:cNvSpPr/>
          <p:nvPr/>
        </p:nvSpPr>
        <p:spPr>
          <a:xfrm>
            <a:off x="0" y="11558016"/>
            <a:ext cx="9144000" cy="1362456"/>
          </a:xfrm>
          <a:prstGeom prst="rect">
            <a:avLst/>
          </a:prstGeom>
          <a:solidFill>
            <a:srgbClr val="0D1B2A"/>
          </a:solidFill>
          <a:ln w="12700">
            <a:solidFill>
              <a:srgbClr val="0D1B2A"/>
            </a:solidFill>
            <a:prstDash val="solid"/>
          </a:ln>
        </p:spPr>
        <p:txBody>
          <a:bodyPr/>
          <a:lstStyle/>
          <a:p>
            <a:endParaRPr lang="en-US"/>
          </a:p>
        </p:txBody>
      </p:sp>
      <p:sp>
        <p:nvSpPr>
          <p:cNvPr id="71" name="Text 69"/>
          <p:cNvSpPr/>
          <p:nvPr/>
        </p:nvSpPr>
        <p:spPr>
          <a:xfrm>
            <a:off x="219456" y="12161520"/>
            <a:ext cx="8595360" cy="347472"/>
          </a:xfrm>
          <a:prstGeom prst="rect">
            <a:avLst/>
          </a:prstGeom>
          <a:noFill/>
          <a:ln/>
        </p:spPr>
        <p:txBody>
          <a:bodyPr wrap="square" lIns="0" tIns="0" rIns="0" bIns="0" rtlCol="0" anchor="ctr"/>
          <a:lstStyle/>
          <a:p>
            <a:pPr>
              <a:lnSpc>
                <a:spcPct val="150000"/>
              </a:lnSpc>
            </a:pPr>
            <a:r>
              <a:rPr lang="en-US" sz="800" dirty="0">
                <a:solidFill>
                  <a:schemeClr val="bg1"/>
                </a:solidFill>
              </a:rPr>
              <a:t>1 - Chen YM, Hsiao TH, Lin CH, Fann YC. Unlocking precision medicine: clinical applications of integrating health records, genetics, and immunology through artificial intelligence. J Biomed Sci. 2025 Feb 7.</a:t>
            </a:r>
          </a:p>
          <a:p>
            <a:pPr>
              <a:lnSpc>
                <a:spcPct val="150000"/>
              </a:lnSpc>
            </a:pPr>
            <a:r>
              <a:rPr lang="en-US" sz="800" dirty="0">
                <a:solidFill>
                  <a:schemeClr val="bg1"/>
                </a:solidFill>
              </a:rPr>
              <a:t>2 - </a:t>
            </a:r>
            <a:r>
              <a:rPr lang="en-US" sz="800" dirty="0" err="1">
                <a:solidFill>
                  <a:schemeClr val="bg1"/>
                </a:solidFill>
              </a:rPr>
              <a:t>Hügle</a:t>
            </a:r>
            <a:r>
              <a:rPr lang="en-US" sz="800" dirty="0">
                <a:solidFill>
                  <a:schemeClr val="bg1"/>
                </a:solidFill>
              </a:rPr>
              <a:t> T. Advancing rheumatology care through machine learning. Pharm Med. 2024 Mar.</a:t>
            </a:r>
          </a:p>
          <a:p>
            <a:pPr>
              <a:lnSpc>
                <a:spcPct val="150000"/>
              </a:lnSpc>
            </a:pPr>
            <a:r>
              <a:rPr lang="en-US" sz="800" dirty="0">
                <a:solidFill>
                  <a:schemeClr val="bg1"/>
                </a:solidFill>
              </a:rPr>
              <a:t>3 - </a:t>
            </a:r>
            <a:r>
              <a:rPr lang="en-US" sz="800" dirty="0" err="1">
                <a:solidFill>
                  <a:schemeClr val="bg1"/>
                </a:solidFill>
              </a:rPr>
              <a:t>Knitza</a:t>
            </a:r>
            <a:r>
              <a:rPr lang="en-US" sz="800" dirty="0">
                <a:solidFill>
                  <a:schemeClr val="bg1"/>
                </a:solidFill>
              </a:rPr>
              <a:t> J, Gupta L, </a:t>
            </a:r>
            <a:r>
              <a:rPr lang="en-US" sz="800" dirty="0" err="1">
                <a:solidFill>
                  <a:schemeClr val="bg1"/>
                </a:solidFill>
              </a:rPr>
              <a:t>Hügle</a:t>
            </a:r>
            <a:r>
              <a:rPr lang="en-US" sz="800" dirty="0">
                <a:solidFill>
                  <a:schemeClr val="bg1"/>
                </a:solidFill>
              </a:rPr>
              <a:t> T. Rheumatology in the digital health era: status quo and quo </a:t>
            </a:r>
            <a:r>
              <a:rPr lang="en-US" sz="800" dirty="0" err="1">
                <a:solidFill>
                  <a:schemeClr val="bg1"/>
                </a:solidFill>
              </a:rPr>
              <a:t>vadis</a:t>
            </a:r>
            <a:r>
              <a:rPr lang="en-US" sz="800" dirty="0">
                <a:solidFill>
                  <a:schemeClr val="bg1"/>
                </a:solidFill>
              </a:rPr>
              <a:t>? Nat Rev </a:t>
            </a:r>
            <a:r>
              <a:rPr lang="en-US" sz="800" dirty="0" err="1">
                <a:solidFill>
                  <a:schemeClr val="bg1"/>
                </a:solidFill>
              </a:rPr>
              <a:t>Rheumatol</a:t>
            </a:r>
            <a:r>
              <a:rPr lang="en-US" sz="800" dirty="0">
                <a:solidFill>
                  <a:schemeClr val="bg1"/>
                </a:solidFill>
              </a:rPr>
              <a:t>. 2024 Dec 20.</a:t>
            </a:r>
          </a:p>
          <a:p>
            <a:pPr>
              <a:lnSpc>
                <a:spcPct val="150000"/>
              </a:lnSpc>
            </a:pPr>
            <a:r>
              <a:rPr lang="en-US" sz="800" dirty="0">
                <a:solidFill>
                  <a:schemeClr val="bg1"/>
                </a:solidFill>
              </a:rPr>
              <a:t>4 - Kunal </a:t>
            </a:r>
            <a:r>
              <a:rPr lang="en-US" sz="800" dirty="0" err="1">
                <a:solidFill>
                  <a:schemeClr val="bg1"/>
                </a:solidFill>
              </a:rPr>
              <a:t>Chandwar</a:t>
            </a:r>
            <a:r>
              <a:rPr lang="en-US" sz="800" dirty="0">
                <a:solidFill>
                  <a:schemeClr val="bg1"/>
                </a:solidFill>
              </a:rPr>
              <a:t>, Misra DP. What does artificial intelligence mean in rheumatology? Arch </a:t>
            </a:r>
            <a:r>
              <a:rPr lang="en-US" sz="800" dirty="0" err="1">
                <a:solidFill>
                  <a:schemeClr val="bg1"/>
                </a:solidFill>
              </a:rPr>
              <a:t>Rheumatol</a:t>
            </a:r>
            <a:r>
              <a:rPr lang="en-US" sz="800" dirty="0">
                <a:solidFill>
                  <a:schemeClr val="bg1"/>
                </a:solidFill>
              </a:rPr>
              <a:t>. 2024 Mar).</a:t>
            </a:r>
          </a:p>
          <a:p>
            <a:pPr>
              <a:lnSpc>
                <a:spcPct val="150000"/>
              </a:lnSpc>
            </a:pPr>
            <a:r>
              <a:rPr lang="en-US" sz="800" dirty="0">
                <a:solidFill>
                  <a:schemeClr val="bg1"/>
                </a:solidFill>
              </a:rPr>
              <a:t>5 - </a:t>
            </a:r>
            <a:r>
              <a:rPr lang="en-US" sz="800" dirty="0" err="1">
                <a:solidFill>
                  <a:schemeClr val="bg1"/>
                </a:solidFill>
              </a:rPr>
              <a:t>Sequé</a:t>
            </a:r>
            <a:r>
              <a:rPr lang="en-US" sz="800" dirty="0">
                <a:solidFill>
                  <a:schemeClr val="bg1"/>
                </a:solidFill>
              </a:rPr>
              <a:t>-Sabater JM, </a:t>
            </a:r>
            <a:r>
              <a:rPr lang="en-US" sz="800" dirty="0" err="1">
                <a:solidFill>
                  <a:schemeClr val="bg1"/>
                </a:solidFill>
              </a:rPr>
              <a:t>Benavent</a:t>
            </a:r>
            <a:r>
              <a:rPr lang="en-US" sz="800" dirty="0">
                <a:solidFill>
                  <a:schemeClr val="bg1"/>
                </a:solidFill>
              </a:rPr>
              <a:t> D. Artificial intelligence in rheumatology research: what is it good for? RMD Open. 2025.</a:t>
            </a:r>
          </a:p>
        </p:txBody>
      </p:sp>
      <p:sp>
        <p:nvSpPr>
          <p:cNvPr id="72" name="Text 47">
            <a:extLst>
              <a:ext uri="{FF2B5EF4-FFF2-40B4-BE49-F238E27FC236}">
                <a16:creationId xmlns:a16="http://schemas.microsoft.com/office/drawing/2014/main" id="{3C5F6676-DDDC-0F31-872F-CB23CD41653D}"/>
              </a:ext>
            </a:extLst>
          </p:cNvPr>
          <p:cNvSpPr/>
          <p:nvPr/>
        </p:nvSpPr>
        <p:spPr>
          <a:xfrm>
            <a:off x="274320" y="11612880"/>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REFERENCES</a:t>
            </a:r>
            <a:endParaRPr lang="en-US" sz="900" dirty="0"/>
          </a:p>
        </p:txBody>
      </p:sp>
      <p:sp>
        <p:nvSpPr>
          <p:cNvPr id="73" name="Shape 46">
            <a:extLst>
              <a:ext uri="{FF2B5EF4-FFF2-40B4-BE49-F238E27FC236}">
                <a16:creationId xmlns:a16="http://schemas.microsoft.com/office/drawing/2014/main" id="{7FA42CAF-271E-1D1E-F241-4B903816BAF6}"/>
              </a:ext>
            </a:extLst>
          </p:cNvPr>
          <p:cNvSpPr/>
          <p:nvPr/>
        </p:nvSpPr>
        <p:spPr>
          <a:xfrm>
            <a:off x="159173" y="11649456"/>
            <a:ext cx="45720" cy="201168"/>
          </a:xfrm>
          <a:prstGeom prst="rect">
            <a:avLst/>
          </a:prstGeom>
          <a:solidFill>
            <a:srgbClr val="0D9488"/>
          </a:solidFill>
          <a:ln w="12700">
            <a:solidFill>
              <a:srgbClr val="0D9488"/>
            </a:solidFill>
            <a:prstDash val="solid"/>
          </a:ln>
        </p:spPr>
        <p:txBody>
          <a:bodyPr/>
          <a:lstStyle/>
          <a:p>
            <a:endParaRPr lang="en-US"/>
          </a:p>
        </p:txBody>
      </p:sp>
      <p:grpSp>
        <p:nvGrpSpPr>
          <p:cNvPr id="74" name="Groupe 73">
            <a:extLst>
              <a:ext uri="{FF2B5EF4-FFF2-40B4-BE49-F238E27FC236}">
                <a16:creationId xmlns:a16="http://schemas.microsoft.com/office/drawing/2014/main" id="{6666CA03-E9CD-F214-13A1-297EC117F3E5}"/>
              </a:ext>
            </a:extLst>
          </p:cNvPr>
          <p:cNvGrpSpPr/>
          <p:nvPr/>
        </p:nvGrpSpPr>
        <p:grpSpPr>
          <a:xfrm>
            <a:off x="4737850" y="2165604"/>
            <a:ext cx="4352544" cy="2651760"/>
            <a:chOff x="-5495859" y="8202168"/>
            <a:chExt cx="4352544" cy="2651760"/>
          </a:xfrm>
        </p:grpSpPr>
        <p:sp>
          <p:nvSpPr>
            <p:cNvPr id="47" name="Shape 45"/>
            <p:cNvSpPr/>
            <p:nvPr/>
          </p:nvSpPr>
          <p:spPr>
            <a:xfrm>
              <a:off x="-5495859" y="8202168"/>
              <a:ext cx="4352544" cy="2651760"/>
            </a:xfrm>
            <a:prstGeom prst="rect">
              <a:avLst/>
            </a:prstGeom>
            <a:solidFill>
              <a:srgbClr val="FFFFFF"/>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US"/>
            </a:p>
          </p:txBody>
        </p:sp>
        <p:grpSp>
          <p:nvGrpSpPr>
            <p:cNvPr id="62" name="Groupe 61">
              <a:extLst>
                <a:ext uri="{FF2B5EF4-FFF2-40B4-BE49-F238E27FC236}">
                  <a16:creationId xmlns:a16="http://schemas.microsoft.com/office/drawing/2014/main" id="{2D2494B0-DEE9-14C7-3297-8F985B7F9C53}"/>
                </a:ext>
              </a:extLst>
            </p:cNvPr>
            <p:cNvGrpSpPr/>
            <p:nvPr/>
          </p:nvGrpSpPr>
          <p:grpSpPr>
            <a:xfrm>
              <a:off x="-5290530" y="8436139"/>
              <a:ext cx="4076907" cy="2284412"/>
              <a:chOff x="344217" y="8825548"/>
              <a:chExt cx="4076907" cy="2284412"/>
            </a:xfrm>
          </p:grpSpPr>
          <p:sp>
            <p:nvSpPr>
              <p:cNvPr id="48" name="Shape 46"/>
              <p:cNvSpPr/>
              <p:nvPr/>
            </p:nvSpPr>
            <p:spPr>
              <a:xfrm>
                <a:off x="374904" y="8847117"/>
                <a:ext cx="45720" cy="201168"/>
              </a:xfrm>
              <a:prstGeom prst="rect">
                <a:avLst/>
              </a:prstGeom>
              <a:solidFill>
                <a:srgbClr val="0D9488"/>
              </a:solidFill>
              <a:ln w="12700">
                <a:solidFill>
                  <a:srgbClr val="0D9488"/>
                </a:solidFill>
                <a:prstDash val="solid"/>
              </a:ln>
            </p:spPr>
            <p:txBody>
              <a:bodyPr/>
              <a:lstStyle/>
              <a:p>
                <a:endParaRPr lang="en-US"/>
              </a:p>
            </p:txBody>
          </p:sp>
          <p:sp>
            <p:nvSpPr>
              <p:cNvPr id="49" name="Text 47"/>
              <p:cNvSpPr/>
              <p:nvPr/>
            </p:nvSpPr>
            <p:spPr>
              <a:xfrm>
                <a:off x="525780" y="8825548"/>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EVALUATION</a:t>
                </a:r>
                <a:endParaRPr lang="en-US" sz="1200" dirty="0"/>
              </a:p>
            </p:txBody>
          </p:sp>
          <p:sp>
            <p:nvSpPr>
              <p:cNvPr id="51" name="Text 49"/>
              <p:cNvSpPr/>
              <p:nvPr/>
            </p:nvSpPr>
            <p:spPr>
              <a:xfrm>
                <a:off x="344217" y="9369593"/>
                <a:ext cx="3858768" cy="256032"/>
              </a:xfrm>
              <a:prstGeom prst="rect">
                <a:avLst/>
              </a:prstGeom>
              <a:noFill/>
              <a:ln/>
            </p:spPr>
            <p:txBody>
              <a:bodyPr wrap="square" lIns="0" tIns="0" rIns="0" bIns="0" rtlCol="0" anchor="ctr"/>
              <a:lstStyle/>
              <a:p>
                <a:pPr>
                  <a:spcAft>
                    <a:spcPts val="200"/>
                  </a:spcAft>
                </a:pPr>
                <a:endParaRPr lang="en-US" sz="780" dirty="0">
                  <a:solidFill>
                    <a:srgbClr val="475569"/>
                  </a:solidFill>
                  <a:latin typeface="Calibri" pitchFamily="34" charset="0"/>
                  <a:ea typeface="Calibri" pitchFamily="34" charset="-122"/>
                  <a:cs typeface="Calibri" pitchFamily="34" charset="-120"/>
                </a:endParaRPr>
              </a:p>
              <a:p>
                <a:pPr>
                  <a:spcAft>
                    <a:spcPts val="200"/>
                  </a:spcAft>
                </a:pPr>
                <a:r>
                  <a:rPr lang="en-US" sz="780" dirty="0">
                    <a:solidFill>
                      <a:srgbClr val="475569"/>
                    </a:solidFill>
                    <a:latin typeface="Calibri" pitchFamily="34" charset="0"/>
                    <a:ea typeface="Calibri" pitchFamily="34" charset="-122"/>
                    <a:cs typeface="Calibri" pitchFamily="34" charset="-120"/>
                  </a:rPr>
                  <a:t>The system maintains sub-5 s latency for AI-assisted consultations, with API response times of 50–200 </a:t>
                </a:r>
                <a:r>
                  <a:rPr lang="en-US" sz="780" dirty="0" err="1">
                    <a:solidFill>
                      <a:srgbClr val="475569"/>
                    </a:solidFill>
                    <a:latin typeface="Calibri" pitchFamily="34" charset="0"/>
                    <a:ea typeface="Calibri" pitchFamily="34" charset="-122"/>
                    <a:cs typeface="Calibri" pitchFamily="34" charset="-120"/>
                  </a:rPr>
                  <a:t>ms</a:t>
                </a:r>
                <a:r>
                  <a:rPr lang="en-US" sz="780" dirty="0">
                    <a:solidFill>
                      <a:srgbClr val="475569"/>
                    </a:solidFill>
                    <a:latin typeface="Calibri" pitchFamily="34" charset="0"/>
                    <a:ea typeface="Calibri" pitchFamily="34" charset="-122"/>
                    <a:cs typeface="Calibri" pitchFamily="34" charset="-120"/>
                  </a:rPr>
                  <a:t> and PDF generation within 0.5–3 s. It supports up to 20 concurrent clinical users per department without performance degradation. Security and compliance are ensured through JWT-based authentication, RBAC, and full audit logging aligned with CNDP requirements. Identified bottlenecks are mitigated via fallback strategies, with production deployment underway including replication and automated backups.</a:t>
                </a:r>
                <a:endParaRPr lang="en-US" sz="780" dirty="0"/>
              </a:p>
            </p:txBody>
          </p:sp>
          <p:sp>
            <p:nvSpPr>
              <p:cNvPr id="59" name="Text 57"/>
              <p:cNvSpPr/>
              <p:nvPr/>
            </p:nvSpPr>
            <p:spPr>
              <a:xfrm>
                <a:off x="438912" y="10110216"/>
                <a:ext cx="3858768" cy="256032"/>
              </a:xfrm>
              <a:prstGeom prst="rect">
                <a:avLst/>
              </a:prstGeom>
              <a:noFill/>
              <a:ln/>
            </p:spPr>
            <p:txBody>
              <a:bodyPr wrap="square" lIns="0" tIns="0" rIns="0" bIns="0" rtlCol="0" anchor="ctr"/>
              <a:lstStyle/>
              <a:p>
                <a:pPr marL="0" indent="0">
                  <a:buNone/>
                </a:pPr>
                <a:endParaRPr lang="en-US" sz="750" dirty="0"/>
              </a:p>
            </p:txBody>
          </p:sp>
          <p:sp>
            <p:nvSpPr>
              <p:cNvPr id="63" name="Text 61"/>
              <p:cNvSpPr/>
              <p:nvPr/>
            </p:nvSpPr>
            <p:spPr>
              <a:xfrm>
                <a:off x="438912" y="10853928"/>
                <a:ext cx="3858768" cy="256032"/>
              </a:xfrm>
              <a:prstGeom prst="rect">
                <a:avLst/>
              </a:prstGeom>
              <a:noFill/>
              <a:ln/>
            </p:spPr>
            <p:txBody>
              <a:bodyPr wrap="square" lIns="0" tIns="0" rIns="0" bIns="0" rtlCol="0" anchor="ctr"/>
              <a:lstStyle/>
              <a:p>
                <a:pPr marL="0" indent="0">
                  <a:buNone/>
                </a:pPr>
                <a:endParaRPr lang="en-US" sz="750" dirty="0"/>
              </a:p>
            </p:txBody>
          </p:sp>
        </p:grpSp>
      </p:grpSp>
      <p:grpSp>
        <p:nvGrpSpPr>
          <p:cNvPr id="61" name="Groupe 60">
            <a:extLst>
              <a:ext uri="{FF2B5EF4-FFF2-40B4-BE49-F238E27FC236}">
                <a16:creationId xmlns:a16="http://schemas.microsoft.com/office/drawing/2014/main" id="{05DE1576-8CB1-6884-2B6A-8F84A65AF488}"/>
              </a:ext>
            </a:extLst>
          </p:cNvPr>
          <p:cNvGrpSpPr/>
          <p:nvPr/>
        </p:nvGrpSpPr>
        <p:grpSpPr>
          <a:xfrm>
            <a:off x="4735745" y="4966848"/>
            <a:ext cx="4352544" cy="3721608"/>
            <a:chOff x="9912411" y="7163961"/>
            <a:chExt cx="4352544" cy="3721608"/>
          </a:xfrm>
        </p:grpSpPr>
        <p:sp>
          <p:nvSpPr>
            <p:cNvPr id="34" name="Shape 32"/>
            <p:cNvSpPr/>
            <p:nvPr/>
          </p:nvSpPr>
          <p:spPr>
            <a:xfrm>
              <a:off x="9912411" y="7163961"/>
              <a:ext cx="4352544" cy="3721608"/>
            </a:xfrm>
            <a:prstGeom prst="rect">
              <a:avLst/>
            </a:prstGeom>
            <a:solidFill>
              <a:srgbClr val="FFFFFF"/>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US"/>
            </a:p>
          </p:txBody>
        </p:sp>
        <p:grpSp>
          <p:nvGrpSpPr>
            <p:cNvPr id="60" name="Groupe 59">
              <a:extLst>
                <a:ext uri="{FF2B5EF4-FFF2-40B4-BE49-F238E27FC236}">
                  <a16:creationId xmlns:a16="http://schemas.microsoft.com/office/drawing/2014/main" id="{C032B70B-6964-D7BC-856E-557540D105C3}"/>
                </a:ext>
              </a:extLst>
            </p:cNvPr>
            <p:cNvGrpSpPr/>
            <p:nvPr/>
          </p:nvGrpSpPr>
          <p:grpSpPr>
            <a:xfrm>
              <a:off x="10108160" y="7374636"/>
              <a:ext cx="4028779" cy="1900990"/>
              <a:chOff x="4767749" y="4919472"/>
              <a:chExt cx="4028779" cy="1900990"/>
            </a:xfrm>
          </p:grpSpPr>
          <p:sp>
            <p:nvSpPr>
              <p:cNvPr id="35" name="Shape 33"/>
              <p:cNvSpPr/>
              <p:nvPr/>
            </p:nvSpPr>
            <p:spPr>
              <a:xfrm>
                <a:off x="4809744" y="4956048"/>
                <a:ext cx="45720" cy="201168"/>
              </a:xfrm>
              <a:prstGeom prst="rect">
                <a:avLst/>
              </a:prstGeom>
              <a:solidFill>
                <a:srgbClr val="0D9488"/>
              </a:solidFill>
              <a:ln w="12700">
                <a:solidFill>
                  <a:srgbClr val="0D9488"/>
                </a:solidFill>
                <a:prstDash val="solid"/>
              </a:ln>
            </p:spPr>
            <p:txBody>
              <a:bodyPr/>
              <a:lstStyle/>
              <a:p>
                <a:endParaRPr lang="en-US"/>
              </a:p>
            </p:txBody>
          </p:sp>
          <p:sp>
            <p:nvSpPr>
              <p:cNvPr id="36" name="Text 34"/>
              <p:cNvSpPr/>
              <p:nvPr/>
            </p:nvSpPr>
            <p:spPr>
              <a:xfrm>
                <a:off x="4901184" y="4919472"/>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RESULTS &amp; DISCUSSION</a:t>
                </a:r>
                <a:endParaRPr lang="en-US" sz="1200" dirty="0"/>
              </a:p>
            </p:txBody>
          </p:sp>
          <p:sp>
            <p:nvSpPr>
              <p:cNvPr id="38" name="Text 36"/>
              <p:cNvSpPr/>
              <p:nvPr/>
            </p:nvSpPr>
            <p:spPr>
              <a:xfrm>
                <a:off x="4809744" y="5285232"/>
                <a:ext cx="1243584" cy="274320"/>
              </a:xfrm>
              <a:prstGeom prst="rect">
                <a:avLst/>
              </a:prstGeom>
              <a:noFill/>
              <a:ln/>
            </p:spPr>
            <p:txBody>
              <a:bodyPr wrap="square" lIns="0" tIns="0" rIns="0" bIns="0" rtlCol="0" anchor="ctr"/>
              <a:lstStyle/>
              <a:p>
                <a:pPr marL="0" indent="0" algn="ctr">
                  <a:buNone/>
                </a:pPr>
                <a:endParaRPr lang="en-US" sz="1600" dirty="0"/>
              </a:p>
            </p:txBody>
          </p:sp>
          <p:sp>
            <p:nvSpPr>
              <p:cNvPr id="41" name="Text 39"/>
              <p:cNvSpPr/>
              <p:nvPr/>
            </p:nvSpPr>
            <p:spPr>
              <a:xfrm>
                <a:off x="6126480" y="5285232"/>
                <a:ext cx="1243584" cy="274320"/>
              </a:xfrm>
              <a:prstGeom prst="rect">
                <a:avLst/>
              </a:prstGeom>
              <a:noFill/>
              <a:ln/>
            </p:spPr>
            <p:txBody>
              <a:bodyPr wrap="square" lIns="0" tIns="0" rIns="0" bIns="0" rtlCol="0" anchor="ctr"/>
              <a:lstStyle/>
              <a:p>
                <a:pPr marL="0" indent="0" algn="ctr">
                  <a:buNone/>
                </a:pPr>
                <a:endParaRPr lang="en-US" sz="1600" dirty="0"/>
              </a:p>
            </p:txBody>
          </p:sp>
          <p:sp>
            <p:nvSpPr>
              <p:cNvPr id="42" name="Text 40"/>
              <p:cNvSpPr/>
              <p:nvPr/>
            </p:nvSpPr>
            <p:spPr>
              <a:xfrm>
                <a:off x="6126480" y="5577840"/>
                <a:ext cx="1243584" cy="310896"/>
              </a:xfrm>
              <a:prstGeom prst="rect">
                <a:avLst/>
              </a:prstGeom>
              <a:noFill/>
              <a:ln/>
            </p:spPr>
            <p:txBody>
              <a:bodyPr wrap="square" lIns="0" tIns="0" rIns="0" bIns="0" rtlCol="0" anchor="ctr"/>
              <a:lstStyle/>
              <a:p>
                <a:pPr marL="0" indent="0" algn="ctr">
                  <a:buNone/>
                </a:pPr>
                <a:endParaRPr lang="en-US" sz="800" dirty="0"/>
              </a:p>
            </p:txBody>
          </p:sp>
          <p:sp>
            <p:nvSpPr>
              <p:cNvPr id="44" name="Text 42"/>
              <p:cNvSpPr/>
              <p:nvPr/>
            </p:nvSpPr>
            <p:spPr>
              <a:xfrm>
                <a:off x="7443216" y="5285232"/>
                <a:ext cx="1243584" cy="274320"/>
              </a:xfrm>
              <a:prstGeom prst="rect">
                <a:avLst/>
              </a:prstGeom>
              <a:noFill/>
              <a:ln/>
            </p:spPr>
            <p:txBody>
              <a:bodyPr wrap="square" lIns="0" tIns="0" rIns="0" bIns="0" rtlCol="0" anchor="ctr"/>
              <a:lstStyle/>
              <a:p>
                <a:pPr marL="0" indent="0" algn="ctr">
                  <a:buNone/>
                </a:pPr>
                <a:endParaRPr lang="en-US" sz="1600" dirty="0"/>
              </a:p>
            </p:txBody>
          </p:sp>
          <p:sp>
            <p:nvSpPr>
              <p:cNvPr id="46" name="Text 44"/>
              <p:cNvSpPr/>
              <p:nvPr/>
            </p:nvSpPr>
            <p:spPr>
              <a:xfrm>
                <a:off x="4767749" y="5265982"/>
                <a:ext cx="3986784" cy="1554480"/>
              </a:xfrm>
              <a:prstGeom prst="rect">
                <a:avLst/>
              </a:prstGeom>
              <a:noFill/>
              <a:ln/>
            </p:spPr>
            <p:txBody>
              <a:bodyPr wrap="square" lIns="0" tIns="0" rIns="0" bIns="0" rtlCol="0" anchor="t"/>
              <a:lstStyle/>
              <a:p>
                <a:r>
                  <a:rPr lang="en-US" sz="800" dirty="0" err="1"/>
                  <a:t>RhumatoAI</a:t>
                </a:r>
                <a:r>
                  <a:rPr lang="en-US" sz="800" dirty="0"/>
                  <a:t> implements bidirectional care coordination model integrating patient-generated symptom narratives with clinician-derived diagnoses and laboratory data computational environment. AI-mediated processing generates clinical recommendations institutional governance. Core modules include patient and clinical history management, appointment scheduling, medical documentation, LLM-assisted decision support. Role-based access control (RBAC) enforces hierarchical permissions supported audit logging institutional accountability. A single-instance </a:t>
                </a:r>
                <a:r>
                  <a:rPr lang="en-US" sz="800" dirty="0" err="1"/>
                  <a:t>BioMistral</a:t>
                </a:r>
                <a:r>
                  <a:rPr lang="en-US" sz="800" dirty="0"/>
                  <a:t>/</a:t>
                </a:r>
                <a:r>
                  <a:rPr lang="en-US" sz="800" dirty="0" err="1"/>
                  <a:t>Ollama</a:t>
                </a:r>
                <a:r>
                  <a:rPr lang="en-US" sz="800" dirty="0"/>
                  <a:t> deployment supports clinical load (10–20 concurrent practitioners per department). Future scaling being evaluated through multi-instance LLM orchestration and asynchronous task queues ⁵.</a:t>
                </a:r>
              </a:p>
            </p:txBody>
          </p:sp>
        </p:grpSp>
      </p:grpSp>
      <p:grpSp>
        <p:nvGrpSpPr>
          <p:cNvPr id="52" name="Groupe 51">
            <a:extLst>
              <a:ext uri="{FF2B5EF4-FFF2-40B4-BE49-F238E27FC236}">
                <a16:creationId xmlns:a16="http://schemas.microsoft.com/office/drawing/2014/main" id="{744AFE85-FA5F-175A-4537-2C8C2721D735}"/>
              </a:ext>
            </a:extLst>
          </p:cNvPr>
          <p:cNvGrpSpPr/>
          <p:nvPr/>
        </p:nvGrpSpPr>
        <p:grpSpPr>
          <a:xfrm>
            <a:off x="159173" y="7707966"/>
            <a:ext cx="4352544" cy="3721608"/>
            <a:chOff x="-5330614" y="2816130"/>
            <a:chExt cx="4352544" cy="3721608"/>
          </a:xfrm>
        </p:grpSpPr>
        <p:sp>
          <p:nvSpPr>
            <p:cNvPr id="17" name="Shape 15"/>
            <p:cNvSpPr/>
            <p:nvPr/>
          </p:nvSpPr>
          <p:spPr>
            <a:xfrm>
              <a:off x="-5330614" y="2816130"/>
              <a:ext cx="4352544" cy="3721608"/>
            </a:xfrm>
            <a:prstGeom prst="rect">
              <a:avLst/>
            </a:prstGeom>
            <a:solidFill>
              <a:srgbClr val="FFFFFF"/>
            </a:solidFill>
            <a:ln w="6350">
              <a:solidFill>
                <a:srgbClr val="E2E8F0"/>
              </a:solidFill>
              <a:prstDash val="solid"/>
            </a:ln>
            <a:effectLst>
              <a:outerShdw blurRad="101600" dist="25400" dir="8100000" algn="bl" rotWithShape="0">
                <a:srgbClr val="000000">
                  <a:alpha val="6000"/>
                </a:srgbClr>
              </a:outerShdw>
            </a:effectLst>
          </p:spPr>
          <p:txBody>
            <a:bodyPr/>
            <a:lstStyle/>
            <a:p>
              <a:endParaRPr lang="en-US" dirty="0"/>
            </a:p>
          </p:txBody>
        </p:sp>
        <p:grpSp>
          <p:nvGrpSpPr>
            <p:cNvPr id="50" name="Groupe 49">
              <a:extLst>
                <a:ext uri="{FF2B5EF4-FFF2-40B4-BE49-F238E27FC236}">
                  <a16:creationId xmlns:a16="http://schemas.microsoft.com/office/drawing/2014/main" id="{3379BD2B-6306-5EF4-4C11-7F66048A5175}"/>
                </a:ext>
              </a:extLst>
            </p:cNvPr>
            <p:cNvGrpSpPr/>
            <p:nvPr/>
          </p:nvGrpSpPr>
          <p:grpSpPr>
            <a:xfrm>
              <a:off x="-5184310" y="3003582"/>
              <a:ext cx="4023360" cy="1316736"/>
              <a:chOff x="310896" y="4919472"/>
              <a:chExt cx="4023360" cy="1316736"/>
            </a:xfrm>
          </p:grpSpPr>
          <p:sp>
            <p:nvSpPr>
              <p:cNvPr id="18" name="Shape 16"/>
              <p:cNvSpPr/>
              <p:nvPr/>
            </p:nvSpPr>
            <p:spPr>
              <a:xfrm>
                <a:off x="347472" y="4956048"/>
                <a:ext cx="45720" cy="201168"/>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438912" y="4919472"/>
                <a:ext cx="3895344" cy="274320"/>
              </a:xfrm>
              <a:prstGeom prst="rect">
                <a:avLst/>
              </a:prstGeom>
              <a:noFill/>
              <a:ln/>
            </p:spPr>
            <p:txBody>
              <a:bodyPr wrap="square" lIns="0" tIns="0" rIns="0" bIns="0"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METHODOLOGY</a:t>
                </a:r>
                <a:endParaRPr lang="en-US" sz="900" dirty="0"/>
              </a:p>
            </p:txBody>
          </p:sp>
          <p:sp>
            <p:nvSpPr>
              <p:cNvPr id="26" name="Text 24"/>
              <p:cNvSpPr/>
              <p:nvPr/>
            </p:nvSpPr>
            <p:spPr>
              <a:xfrm>
                <a:off x="475488" y="6016752"/>
                <a:ext cx="3858768" cy="219456"/>
              </a:xfrm>
              <a:prstGeom prst="rect">
                <a:avLst/>
              </a:prstGeom>
              <a:noFill/>
              <a:ln/>
            </p:spPr>
            <p:txBody>
              <a:bodyPr wrap="square" lIns="0" tIns="0" rIns="0" bIns="0" rtlCol="0" anchor="ctr"/>
              <a:lstStyle/>
              <a:p>
                <a:pPr marL="0" indent="0">
                  <a:buNone/>
                </a:pPr>
                <a:endParaRPr lang="en-US" sz="750" dirty="0"/>
              </a:p>
            </p:txBody>
          </p:sp>
          <p:sp>
            <p:nvSpPr>
              <p:cNvPr id="33" name="Text 31"/>
              <p:cNvSpPr/>
              <p:nvPr/>
            </p:nvSpPr>
            <p:spPr>
              <a:xfrm>
                <a:off x="310896" y="5345777"/>
                <a:ext cx="3986784" cy="457200"/>
              </a:xfrm>
              <a:prstGeom prst="rect">
                <a:avLst/>
              </a:prstGeom>
              <a:noFill/>
              <a:ln/>
            </p:spPr>
            <p:txBody>
              <a:bodyPr wrap="square" lIns="0" tIns="0" rIns="0" bIns="0" rtlCol="0" anchor="t"/>
              <a:lstStyle/>
              <a:p>
                <a:r>
                  <a:rPr lang="en-US" sz="780" dirty="0">
                    <a:latin typeface="+mj-lt"/>
                  </a:rPr>
                  <a:t>The system follows a layered architecture connecting client applications to a centralized backend, which orchestrates service-level processing and AI-driven analysis ³. User inputs are transmitted from client interfaces to the backend, where they are structured and routed through dedicated services for processing. These services interact with a combined data and AI layer, integrating database storage with a local inference engine to generate diagnostic insights and recommendations. The design ensures efficient data flow, secure handling, and seamless integration between application logic and AI-supported decision-making.</a:t>
                </a:r>
              </a:p>
            </p:txBody>
          </p:sp>
        </p:grpSp>
      </p:grpSp>
      <p:pic>
        <p:nvPicPr>
          <p:cNvPr id="86" name="Image 85">
            <a:extLst>
              <a:ext uri="{FF2B5EF4-FFF2-40B4-BE49-F238E27FC236}">
                <a16:creationId xmlns:a16="http://schemas.microsoft.com/office/drawing/2014/main" id="{E51FCE80-40AE-F451-5291-1B4ED0A18012}"/>
              </a:ext>
            </a:extLst>
          </p:cNvPr>
          <p:cNvPicPr>
            <a:picLocks noChangeAspect="1"/>
          </p:cNvPicPr>
          <p:nvPr/>
        </p:nvPicPr>
        <p:blipFill>
          <a:blip r:embed="rId3"/>
          <a:stretch>
            <a:fillRect/>
          </a:stretch>
        </p:blipFill>
        <p:spPr>
          <a:xfrm>
            <a:off x="7562453" y="103108"/>
            <a:ext cx="1457633" cy="640671"/>
          </a:xfrm>
          <a:prstGeom prst="rect">
            <a:avLst/>
          </a:prstGeom>
        </p:spPr>
      </p:pic>
      <p:pic>
        <p:nvPicPr>
          <p:cNvPr id="92" name="Image 91">
            <a:extLst>
              <a:ext uri="{FF2B5EF4-FFF2-40B4-BE49-F238E27FC236}">
                <a16:creationId xmlns:a16="http://schemas.microsoft.com/office/drawing/2014/main" id="{9AA40429-F033-8D28-1293-4F158F838133}"/>
              </a:ext>
            </a:extLst>
          </p:cNvPr>
          <p:cNvPicPr>
            <a:picLocks noChangeAspect="1"/>
          </p:cNvPicPr>
          <p:nvPr/>
        </p:nvPicPr>
        <p:blipFill>
          <a:blip r:embed="rId4"/>
          <a:stretch>
            <a:fillRect/>
          </a:stretch>
        </p:blipFill>
        <p:spPr>
          <a:xfrm>
            <a:off x="0" y="157625"/>
            <a:ext cx="942901" cy="432163"/>
          </a:xfrm>
          <a:prstGeom prst="rect">
            <a:avLst/>
          </a:prstGeom>
        </p:spPr>
      </p:pic>
      <p:pic>
        <p:nvPicPr>
          <p:cNvPr id="94" name="Image 93">
            <a:extLst>
              <a:ext uri="{FF2B5EF4-FFF2-40B4-BE49-F238E27FC236}">
                <a16:creationId xmlns:a16="http://schemas.microsoft.com/office/drawing/2014/main" id="{19734838-724F-41EA-BE9F-D74AC98C5ACB}"/>
              </a:ext>
            </a:extLst>
          </p:cNvPr>
          <p:cNvPicPr>
            <a:picLocks noChangeAspect="1"/>
          </p:cNvPicPr>
          <p:nvPr/>
        </p:nvPicPr>
        <p:blipFill>
          <a:blip r:embed="rId5"/>
          <a:stretch>
            <a:fillRect/>
          </a:stretch>
        </p:blipFill>
        <p:spPr>
          <a:xfrm>
            <a:off x="6588252" y="78204"/>
            <a:ext cx="790507" cy="636551"/>
          </a:xfrm>
          <a:prstGeom prst="rect">
            <a:avLst/>
          </a:prstGeom>
        </p:spPr>
      </p:pic>
      <p:pic>
        <p:nvPicPr>
          <p:cNvPr id="96" name="Image 95">
            <a:extLst>
              <a:ext uri="{FF2B5EF4-FFF2-40B4-BE49-F238E27FC236}">
                <a16:creationId xmlns:a16="http://schemas.microsoft.com/office/drawing/2014/main" id="{6DA39B9C-C794-DF7C-AD07-CA8D9EE0682A}"/>
              </a:ext>
            </a:extLst>
          </p:cNvPr>
          <p:cNvPicPr>
            <a:picLocks noChangeAspect="1"/>
          </p:cNvPicPr>
          <p:nvPr/>
        </p:nvPicPr>
        <p:blipFill>
          <a:blip r:embed="rId6"/>
          <a:stretch>
            <a:fillRect/>
          </a:stretch>
        </p:blipFill>
        <p:spPr>
          <a:xfrm>
            <a:off x="1044595" y="210612"/>
            <a:ext cx="942901" cy="382257"/>
          </a:xfrm>
          <a:prstGeom prst="rect">
            <a:avLst/>
          </a:prstGeom>
        </p:spPr>
      </p:pic>
      <p:pic>
        <p:nvPicPr>
          <p:cNvPr id="55" name="Image 54">
            <a:extLst>
              <a:ext uri="{FF2B5EF4-FFF2-40B4-BE49-F238E27FC236}">
                <a16:creationId xmlns:a16="http://schemas.microsoft.com/office/drawing/2014/main" id="{745688C1-8703-A9C8-581D-B87A2AE4AC97}"/>
              </a:ext>
            </a:extLst>
          </p:cNvPr>
          <p:cNvPicPr>
            <a:picLocks noChangeAspect="1"/>
          </p:cNvPicPr>
          <p:nvPr/>
        </p:nvPicPr>
        <p:blipFill>
          <a:blip r:embed="rId7"/>
          <a:stretch>
            <a:fillRect/>
          </a:stretch>
        </p:blipFill>
        <p:spPr>
          <a:xfrm>
            <a:off x="2196868" y="129357"/>
            <a:ext cx="549006" cy="549006"/>
          </a:xfrm>
          <a:prstGeom prst="rect">
            <a:avLst/>
          </a:prstGeom>
        </p:spPr>
      </p:pic>
      <p:pic>
        <p:nvPicPr>
          <p:cNvPr id="93" name="Image 92">
            <a:extLst>
              <a:ext uri="{FF2B5EF4-FFF2-40B4-BE49-F238E27FC236}">
                <a16:creationId xmlns:a16="http://schemas.microsoft.com/office/drawing/2014/main" id="{2AE0566B-7F18-1DE6-D5E7-C618202E8B5F}"/>
              </a:ext>
            </a:extLst>
          </p:cNvPr>
          <p:cNvPicPr>
            <a:picLocks noChangeAspect="1"/>
          </p:cNvPicPr>
          <p:nvPr/>
        </p:nvPicPr>
        <p:blipFill>
          <a:blip r:embed="rId8"/>
          <a:stretch>
            <a:fillRect/>
          </a:stretch>
        </p:blipFill>
        <p:spPr>
          <a:xfrm>
            <a:off x="6998120" y="3696091"/>
            <a:ext cx="1959686" cy="822833"/>
          </a:xfrm>
          <a:prstGeom prst="rect">
            <a:avLst/>
          </a:prstGeom>
        </p:spPr>
      </p:pic>
      <p:pic>
        <p:nvPicPr>
          <p:cNvPr id="97" name="Image 96">
            <a:extLst>
              <a:ext uri="{FF2B5EF4-FFF2-40B4-BE49-F238E27FC236}">
                <a16:creationId xmlns:a16="http://schemas.microsoft.com/office/drawing/2014/main" id="{0BF07603-99E6-E171-81B1-8557AA930D13}"/>
              </a:ext>
            </a:extLst>
          </p:cNvPr>
          <p:cNvPicPr>
            <a:picLocks noChangeAspect="1"/>
          </p:cNvPicPr>
          <p:nvPr/>
        </p:nvPicPr>
        <p:blipFill>
          <a:blip r:embed="rId9"/>
          <a:stretch>
            <a:fillRect/>
          </a:stretch>
        </p:blipFill>
        <p:spPr>
          <a:xfrm>
            <a:off x="4942816" y="3696091"/>
            <a:ext cx="1929747" cy="798314"/>
          </a:xfrm>
          <a:prstGeom prst="rect">
            <a:avLst/>
          </a:prstGeom>
        </p:spPr>
      </p:pic>
      <p:pic>
        <p:nvPicPr>
          <p:cNvPr id="103" name="Image 102">
            <a:extLst>
              <a:ext uri="{FF2B5EF4-FFF2-40B4-BE49-F238E27FC236}">
                <a16:creationId xmlns:a16="http://schemas.microsoft.com/office/drawing/2014/main" id="{BD9F658C-3C49-EBBB-6904-2632D0D1D84E}"/>
              </a:ext>
            </a:extLst>
          </p:cNvPr>
          <p:cNvPicPr>
            <a:picLocks noChangeAspect="1"/>
          </p:cNvPicPr>
          <p:nvPr/>
        </p:nvPicPr>
        <p:blipFill>
          <a:blip r:embed="rId10"/>
          <a:stretch>
            <a:fillRect/>
          </a:stretch>
        </p:blipFill>
        <p:spPr>
          <a:xfrm>
            <a:off x="342053" y="9234935"/>
            <a:ext cx="3950208" cy="2134485"/>
          </a:xfrm>
          <a:prstGeom prst="rect">
            <a:avLst/>
          </a:prstGeom>
        </p:spPr>
      </p:pic>
      <p:pic>
        <p:nvPicPr>
          <p:cNvPr id="105" name="Image 104">
            <a:extLst>
              <a:ext uri="{FF2B5EF4-FFF2-40B4-BE49-F238E27FC236}">
                <a16:creationId xmlns:a16="http://schemas.microsoft.com/office/drawing/2014/main" id="{99B81D25-51C4-6053-DBA4-5827B3A4A01B}"/>
              </a:ext>
            </a:extLst>
          </p:cNvPr>
          <p:cNvPicPr>
            <a:picLocks noChangeAspect="1"/>
          </p:cNvPicPr>
          <p:nvPr/>
        </p:nvPicPr>
        <p:blipFill>
          <a:blip r:embed="rId11"/>
          <a:stretch>
            <a:fillRect/>
          </a:stretch>
        </p:blipFill>
        <p:spPr>
          <a:xfrm>
            <a:off x="4689478" y="6310685"/>
            <a:ext cx="4445077" cy="24227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1127</TotalTime>
  <Words>887</Words>
  <Application>Microsoft Office PowerPoint</Application>
  <PresentationFormat>Personnalisé</PresentationFormat>
  <Paragraphs>40</Paragraphs>
  <Slides>1</Slides>
  <Notes>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vt:i4>
      </vt:variant>
    </vt:vector>
  </HeadingPairs>
  <TitlesOfParts>
    <vt:vector size="4" baseType="lpstr">
      <vt:lpstr>Arial</vt:lpstr>
      <vt:lpstr>Calibri</vt:lpstr>
      <vt:lpstr>Office Theme</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Ismail BAKRAOUI</cp:lastModifiedBy>
  <cp:revision>10</cp:revision>
  <dcterms:created xsi:type="dcterms:W3CDTF">2026-04-13T20:50:02Z</dcterms:created>
  <dcterms:modified xsi:type="dcterms:W3CDTF">2026-04-16T12:01:37Z</dcterms:modified>
</cp:coreProperties>
</file>