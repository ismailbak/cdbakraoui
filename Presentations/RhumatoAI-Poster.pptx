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6" r:id="rId2"/>
  </p:sldIdLst>
  <p:sldSz cx="9144000" cy="12930188"/>
  <p:notesSz cx="12930188"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125" d="100"/>
          <a:sy n="125" d="100"/>
        </p:scale>
        <p:origin x="1194" y="1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78185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8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920240"/>
          </a:xfrm>
          <a:prstGeom prst="rect">
            <a:avLst/>
          </a:prstGeom>
          <a:solidFill>
            <a:srgbClr val="0D1B2A"/>
          </a:solidFill>
          <a:ln w="12700">
            <a:solidFill>
              <a:srgbClr val="0D1B2A"/>
            </a:solidFill>
            <a:prstDash val="solid"/>
          </a:ln>
        </p:spPr>
        <p:txBody>
          <a:bodyPr/>
          <a:lstStyle/>
          <a:p>
            <a:endParaRPr lang="en-US" dirty="0"/>
          </a:p>
        </p:txBody>
      </p:sp>
      <p:sp>
        <p:nvSpPr>
          <p:cNvPr id="3" name="Shape 1"/>
          <p:cNvSpPr/>
          <p:nvPr/>
        </p:nvSpPr>
        <p:spPr>
          <a:xfrm>
            <a:off x="0" y="1920240"/>
            <a:ext cx="9144000" cy="54864"/>
          </a:xfrm>
          <a:prstGeom prst="rect">
            <a:avLst/>
          </a:prstGeom>
          <a:solidFill>
            <a:srgbClr val="0D9488"/>
          </a:solidFill>
          <a:ln w="12700">
            <a:solidFill>
              <a:srgbClr val="0D9488"/>
            </a:solidFill>
            <a:prstDash val="solid"/>
          </a:ln>
        </p:spPr>
        <p:txBody>
          <a:bodyPr/>
          <a:lstStyle/>
          <a:p>
            <a:endParaRPr lang="en-US"/>
          </a:p>
        </p:txBody>
      </p:sp>
      <p:sp>
        <p:nvSpPr>
          <p:cNvPr id="4" name="Shape 2"/>
          <p:cNvSpPr/>
          <p:nvPr/>
        </p:nvSpPr>
        <p:spPr>
          <a:xfrm>
            <a:off x="3131819" y="200470"/>
            <a:ext cx="3081530" cy="347472"/>
          </a:xfrm>
          <a:prstGeom prst="roundRect">
            <a:avLst>
              <a:gd name="adj" fmla="val 14286"/>
            </a:avLst>
          </a:prstGeom>
          <a:solidFill>
            <a:srgbClr val="0D9488">
              <a:alpha val="70000"/>
            </a:srgbClr>
          </a:solidFill>
          <a:ln w="12700">
            <a:solidFill>
              <a:srgbClr val="0D9488"/>
            </a:solidFill>
            <a:prstDash val="solid"/>
          </a:ln>
        </p:spPr>
        <p:txBody>
          <a:bodyPr/>
          <a:lstStyle/>
          <a:p>
            <a:endParaRPr lang="en-US"/>
          </a:p>
        </p:txBody>
      </p:sp>
      <p:sp>
        <p:nvSpPr>
          <p:cNvPr id="5" name="Text 3"/>
          <p:cNvSpPr/>
          <p:nvPr/>
        </p:nvSpPr>
        <p:spPr>
          <a:xfrm>
            <a:off x="3131819" y="246888"/>
            <a:ext cx="3081529" cy="256032"/>
          </a:xfrm>
          <a:prstGeom prst="rect">
            <a:avLst/>
          </a:prstGeom>
          <a:noFill/>
          <a:ln/>
        </p:spPr>
        <p:txBody>
          <a:bodyPr wrap="square" lIns="0" tIns="0" rIns="0" bIns="0" rtlCol="0" anchor="ctr"/>
          <a:lstStyle/>
          <a:p>
            <a:pPr marL="0" indent="0" algn="ctr">
              <a:buNone/>
            </a:pPr>
            <a:r>
              <a:rPr lang="en-US" sz="1000" dirty="0">
                <a:solidFill>
                  <a:srgbClr val="CCFBF1"/>
                </a:solidFill>
                <a:latin typeface="Calibri" pitchFamily="34" charset="0"/>
                <a:ea typeface="Calibri" pitchFamily="34" charset="-122"/>
                <a:cs typeface="Calibri" pitchFamily="34" charset="-120"/>
              </a:rPr>
              <a:t>2ᵉ Journée Doctorant · LSIA &amp; ENSA Tanger · 17 Avril 2026</a:t>
            </a:r>
            <a:endParaRPr lang="en-US" sz="1000" dirty="0"/>
          </a:p>
        </p:txBody>
      </p:sp>
      <p:sp>
        <p:nvSpPr>
          <p:cNvPr id="6" name="Text 4"/>
          <p:cNvSpPr/>
          <p:nvPr/>
        </p:nvSpPr>
        <p:spPr>
          <a:xfrm>
            <a:off x="374904" y="603504"/>
            <a:ext cx="8412480" cy="822960"/>
          </a:xfrm>
          <a:prstGeom prst="rect">
            <a:avLst/>
          </a:prstGeom>
          <a:noFill/>
          <a:ln/>
        </p:spPr>
        <p:txBody>
          <a:bodyPr wrap="square" lIns="0" tIns="0" rIns="0" bIns="0" rtlCol="0" anchor="ctr"/>
          <a:lstStyle/>
          <a:p>
            <a:pPr algn="ctr"/>
            <a:r>
              <a:rPr lang="en-US" b="1" dirty="0">
                <a:solidFill>
                  <a:srgbClr val="FFFFFF"/>
                </a:solidFill>
                <a:latin typeface="Calibri" pitchFamily="34" charset="0"/>
                <a:ea typeface="Calibri" pitchFamily="34" charset="-122"/>
                <a:cs typeface="Calibri" pitchFamily="34" charset="-120"/>
              </a:rPr>
              <a:t>Implications of Artificial Intelligence for Clinical Decision Support in Rheumatology</a:t>
            </a:r>
            <a:endParaRPr lang="en-US" dirty="0"/>
          </a:p>
        </p:txBody>
      </p:sp>
      <p:sp>
        <p:nvSpPr>
          <p:cNvPr id="7" name="Text 5"/>
          <p:cNvSpPr/>
          <p:nvPr/>
        </p:nvSpPr>
        <p:spPr>
          <a:xfrm>
            <a:off x="466344" y="1181100"/>
            <a:ext cx="8412480" cy="237744"/>
          </a:xfrm>
          <a:prstGeom prst="rect">
            <a:avLst/>
          </a:prstGeom>
          <a:noFill/>
          <a:ln/>
        </p:spPr>
        <p:txBody>
          <a:bodyPr wrap="square" lIns="0" tIns="0" rIns="0" bIns="0" rtlCol="0" anchor="ctr"/>
          <a:lstStyle/>
          <a:p>
            <a:pPr algn="ctr"/>
            <a:r>
              <a:rPr lang="en-US" sz="1200" i="1" dirty="0">
                <a:solidFill>
                  <a:srgbClr val="A5F3FC"/>
                </a:solidFill>
                <a:latin typeface="Calibri" pitchFamily="34" charset="0"/>
                <a:ea typeface="Calibri" pitchFamily="34" charset="-122"/>
                <a:cs typeface="Calibri" pitchFamily="34" charset="-120"/>
              </a:rPr>
              <a:t>Dr. Samy Housbane</a:t>
            </a:r>
            <a:r>
              <a:rPr lang="en-US" sz="1400" dirty="0">
                <a:solidFill>
                  <a:schemeClr val="bg1"/>
                </a:solidFill>
              </a:rPr>
              <a:t>¹</a:t>
            </a:r>
            <a:r>
              <a:rPr lang="en-US" sz="1400" dirty="0"/>
              <a:t> </a:t>
            </a:r>
            <a:r>
              <a:rPr lang="en-US" sz="1200" i="1" dirty="0">
                <a:solidFill>
                  <a:srgbClr val="A5F3FC"/>
                </a:solidFill>
                <a:latin typeface="Calibri" pitchFamily="34" charset="0"/>
                <a:ea typeface="Calibri" pitchFamily="34" charset="-122"/>
                <a:cs typeface="Calibri" pitchFamily="34" charset="-120"/>
              </a:rPr>
              <a:t> · Dr. Khaoula Ajbal</a:t>
            </a:r>
            <a:r>
              <a:rPr lang="en-US" sz="1400" dirty="0">
                <a:solidFill>
                  <a:schemeClr val="bg1"/>
                </a:solidFill>
              </a:rPr>
              <a:t>²</a:t>
            </a:r>
            <a:r>
              <a:rPr lang="en-US" sz="1200" i="1" dirty="0">
                <a:solidFill>
                  <a:srgbClr val="A5F3FC"/>
                </a:solidFill>
                <a:latin typeface="Calibri" pitchFamily="34" charset="0"/>
                <a:ea typeface="Calibri" pitchFamily="34" charset="-122"/>
                <a:cs typeface="Calibri" pitchFamily="34" charset="-120"/>
              </a:rPr>
              <a:t> · M. Ismail Bakraoui</a:t>
            </a:r>
            <a:r>
              <a:rPr lang="en-US" sz="1200" dirty="0">
                <a:solidFill>
                  <a:schemeClr val="bg1"/>
                </a:solidFill>
              </a:rPr>
              <a:t>²</a:t>
            </a:r>
          </a:p>
        </p:txBody>
      </p:sp>
      <p:sp>
        <p:nvSpPr>
          <p:cNvPr id="8" name="Text 6"/>
          <p:cNvSpPr/>
          <p:nvPr/>
        </p:nvSpPr>
        <p:spPr>
          <a:xfrm>
            <a:off x="365760" y="1528572"/>
            <a:ext cx="8412480" cy="201168"/>
          </a:xfrm>
          <a:prstGeom prst="rect">
            <a:avLst/>
          </a:prstGeom>
          <a:noFill/>
          <a:ln/>
        </p:spPr>
        <p:txBody>
          <a:bodyPr wrap="square" lIns="0" tIns="0" rIns="0" bIns="0" rtlCol="0" anchor="ctr"/>
          <a:lstStyle/>
          <a:p>
            <a:pPr marL="0" indent="0" algn="ctr">
              <a:buNone/>
            </a:pPr>
            <a:r>
              <a:rPr lang="en-US" sz="1000" dirty="0">
                <a:solidFill>
                  <a:srgbClr val="7DD3FC"/>
                </a:solidFill>
                <a:latin typeface="Calibri" pitchFamily="34" charset="0"/>
                <a:ea typeface="Calibri" pitchFamily="34" charset="-122"/>
                <a:cs typeface="Calibri" pitchFamily="34" charset="-120"/>
              </a:rPr>
              <a:t>1 – Laboratory of Therapeutic innovation and artificial intelligence in health, FMPC – Hassan II, University of Casablanca</a:t>
            </a:r>
          </a:p>
          <a:p>
            <a:pPr algn="ctr"/>
            <a:r>
              <a:rPr lang="en-US" sz="1000" dirty="0">
                <a:solidFill>
                  <a:srgbClr val="7DD3FC"/>
                </a:solidFill>
                <a:latin typeface="Calibri" pitchFamily="34" charset="0"/>
                <a:ea typeface="Calibri" pitchFamily="34" charset="-122"/>
                <a:cs typeface="Calibri" pitchFamily="34" charset="-120"/>
              </a:rPr>
              <a:t>2 –  Laboratory of intelligent systems and applications, EMSI Tangier</a:t>
            </a:r>
            <a:endParaRPr lang="en-US" sz="1000" dirty="0"/>
          </a:p>
        </p:txBody>
      </p:sp>
      <p:sp>
        <p:nvSpPr>
          <p:cNvPr id="9" name="Shape 7"/>
          <p:cNvSpPr/>
          <p:nvPr/>
        </p:nvSpPr>
        <p:spPr>
          <a:xfrm>
            <a:off x="164592" y="2029968"/>
            <a:ext cx="4352544" cy="2578608"/>
          </a:xfrm>
          <a:prstGeom prst="rect">
            <a:avLst/>
          </a:prstGeom>
          <a:solidFill>
            <a:srgbClr val="FFFFFF"/>
          </a:solidFill>
          <a:ln w="6350">
            <a:solidFill>
              <a:srgbClr val="E2E8F0"/>
            </a:solidFill>
            <a:prstDash val="solid"/>
          </a:ln>
          <a:effectLst>
            <a:outerShdw blurRad="101600" dist="25400" dir="8100000" algn="bl" rotWithShape="0">
              <a:srgbClr val="000000">
                <a:alpha val="6000"/>
              </a:srgbClr>
            </a:outerShdw>
          </a:effectLst>
        </p:spPr>
        <p:txBody>
          <a:bodyPr/>
          <a:lstStyle/>
          <a:p>
            <a:endParaRPr lang="en-US"/>
          </a:p>
        </p:txBody>
      </p:sp>
      <p:sp>
        <p:nvSpPr>
          <p:cNvPr id="10" name="Shape 8"/>
          <p:cNvSpPr/>
          <p:nvPr/>
        </p:nvSpPr>
        <p:spPr>
          <a:xfrm>
            <a:off x="347472" y="2249424"/>
            <a:ext cx="45720" cy="201168"/>
          </a:xfrm>
          <a:prstGeom prst="rect">
            <a:avLst/>
          </a:prstGeom>
          <a:solidFill>
            <a:srgbClr val="0D9488"/>
          </a:solidFill>
          <a:ln w="12700">
            <a:solidFill>
              <a:srgbClr val="0D9488"/>
            </a:solidFill>
            <a:prstDash val="solid"/>
          </a:ln>
        </p:spPr>
        <p:txBody>
          <a:bodyPr/>
          <a:lstStyle/>
          <a:p>
            <a:endParaRPr lang="en-US"/>
          </a:p>
        </p:txBody>
      </p:sp>
      <p:sp>
        <p:nvSpPr>
          <p:cNvPr id="11" name="Text 9"/>
          <p:cNvSpPr/>
          <p:nvPr/>
        </p:nvSpPr>
        <p:spPr>
          <a:xfrm>
            <a:off x="438912" y="2212848"/>
            <a:ext cx="3895344" cy="274320"/>
          </a:xfrm>
          <a:prstGeom prst="rect">
            <a:avLst/>
          </a:prstGeom>
          <a:noFill/>
          <a:ln/>
        </p:spPr>
        <p:txBody>
          <a:bodyPr wrap="square" lIns="0" tIns="0" rIns="0" bIns="0" rtlCol="0" anchor="ctr"/>
          <a:lstStyle/>
          <a:p>
            <a:pPr marL="0" indent="0">
              <a:buNone/>
            </a:pPr>
            <a:r>
              <a:rPr lang="en-US" sz="1200" b="1" kern="0" spc="200" dirty="0">
                <a:solidFill>
                  <a:srgbClr val="0D9488"/>
                </a:solidFill>
                <a:latin typeface="Calibri" pitchFamily="34" charset="0"/>
                <a:ea typeface="Calibri" pitchFamily="34" charset="-122"/>
                <a:cs typeface="Calibri" pitchFamily="34" charset="-120"/>
              </a:rPr>
              <a:t>ABSTRACT</a:t>
            </a:r>
            <a:endParaRPr lang="en-US" sz="900" dirty="0"/>
          </a:p>
        </p:txBody>
      </p:sp>
      <p:sp>
        <p:nvSpPr>
          <p:cNvPr id="12" name="Text 10"/>
          <p:cNvSpPr/>
          <p:nvPr/>
        </p:nvSpPr>
        <p:spPr>
          <a:xfrm>
            <a:off x="347472" y="2578608"/>
            <a:ext cx="3986784" cy="1938528"/>
          </a:xfrm>
          <a:prstGeom prst="rect">
            <a:avLst/>
          </a:prstGeom>
          <a:noFill/>
          <a:ln/>
        </p:spPr>
        <p:txBody>
          <a:bodyPr wrap="square" lIns="0" tIns="0" rIns="0" bIns="0" rtlCol="0" anchor="t"/>
          <a:lstStyle/>
          <a:p>
            <a:pPr marL="0" indent="0" algn="l">
              <a:spcAft>
                <a:spcPts val="200"/>
              </a:spcAft>
              <a:buNone/>
            </a:pPr>
            <a:r>
              <a:rPr lang="en-US" sz="780" dirty="0">
                <a:solidFill>
                  <a:srgbClr val="475569"/>
                </a:solidFill>
                <a:latin typeface="Calibri" pitchFamily="34" charset="0"/>
                <a:ea typeface="Calibri" pitchFamily="34" charset="-122"/>
                <a:cs typeface="Calibri" pitchFamily="34" charset="-120"/>
              </a:rPr>
              <a:t>The integration of AI into clinical practice is constrained not only by model capability, but also by challenges in data governance, system integration, and real-world usability. This study introduces RhumatoAI — a locally deployed, full-stack clinical decision support system designed for rheumatology, combining structured patient management with large language model (LLM) inference.</a:t>
            </a:r>
            <a:endParaRPr lang="en-US" sz="780" dirty="0"/>
          </a:p>
          <a:p>
            <a:pPr marL="0" indent="0" algn="l">
              <a:spcAft>
                <a:spcPts val="200"/>
              </a:spcAft>
              <a:buNone/>
            </a:pPr>
            <a:endParaRPr lang="en-US" sz="780" dirty="0"/>
          </a:p>
          <a:p>
            <a:pPr marL="0" indent="0" algn="l">
              <a:spcAft>
                <a:spcPts val="200"/>
              </a:spcAft>
              <a:buNone/>
            </a:pPr>
            <a:r>
              <a:rPr lang="en-US" sz="780" dirty="0">
                <a:solidFill>
                  <a:srgbClr val="475569"/>
                </a:solidFill>
                <a:latin typeface="Calibri" pitchFamily="34" charset="0"/>
                <a:ea typeface="Calibri" pitchFamily="34" charset="-122"/>
                <a:cs typeface="Calibri" pitchFamily="34" charset="-120"/>
              </a:rPr>
              <a:t>Deployed at CHU Ibn Rochd (Casablanca), the system enables secure, real-time interaction with patient data and AI-assisted clinical support within a fully on-premise infrastructure. Leveraging a FastAPI backend, cross-platform interfaces, and BioMistral inference via Ollama, the platform achieves response latencies of 2–5 seconds under operational conditions.</a:t>
            </a:r>
            <a:endParaRPr lang="en-US" sz="780" dirty="0"/>
          </a:p>
          <a:p>
            <a:pPr marL="0" indent="0" algn="l">
              <a:spcAft>
                <a:spcPts val="200"/>
              </a:spcAft>
              <a:buNone/>
            </a:pPr>
            <a:endParaRPr lang="en-US" sz="780" dirty="0"/>
          </a:p>
          <a:p>
            <a:pPr marL="0" indent="0" algn="l">
              <a:spcAft>
                <a:spcPts val="200"/>
              </a:spcAft>
              <a:buNone/>
            </a:pPr>
            <a:r>
              <a:rPr lang="en-US" sz="780" dirty="0">
                <a:solidFill>
                  <a:srgbClr val="475569"/>
                </a:solidFill>
                <a:latin typeface="Calibri" pitchFamily="34" charset="0"/>
                <a:ea typeface="Calibri" pitchFamily="34" charset="-122"/>
                <a:cs typeface="Calibri" pitchFamily="34" charset="-120"/>
              </a:rPr>
              <a:t>The findings suggest that clinically viable AI systems can be realized without reliance on cloud architectures, provided that system design explicitly addresses latency, privacy constraints, and workflow integration.</a:t>
            </a:r>
            <a:endParaRPr lang="en-US" sz="780" dirty="0"/>
          </a:p>
        </p:txBody>
      </p:sp>
      <p:sp>
        <p:nvSpPr>
          <p:cNvPr id="13" name="Shape 11"/>
          <p:cNvSpPr/>
          <p:nvPr/>
        </p:nvSpPr>
        <p:spPr>
          <a:xfrm>
            <a:off x="4626864" y="2029968"/>
            <a:ext cx="4352544" cy="2578608"/>
          </a:xfrm>
          <a:prstGeom prst="rect">
            <a:avLst/>
          </a:prstGeom>
          <a:solidFill>
            <a:srgbClr val="FFFFFF"/>
          </a:solidFill>
          <a:ln w="6350">
            <a:solidFill>
              <a:srgbClr val="E2E8F0"/>
            </a:solidFill>
            <a:prstDash val="solid"/>
          </a:ln>
          <a:effectLst>
            <a:outerShdw blurRad="101600" dist="25400" dir="8100000" algn="bl" rotWithShape="0">
              <a:srgbClr val="000000">
                <a:alpha val="6000"/>
              </a:srgbClr>
            </a:outerShdw>
          </a:effectLst>
        </p:spPr>
        <p:txBody>
          <a:bodyPr/>
          <a:lstStyle/>
          <a:p>
            <a:endParaRPr lang="en-US"/>
          </a:p>
        </p:txBody>
      </p:sp>
      <p:sp>
        <p:nvSpPr>
          <p:cNvPr id="14" name="Shape 12"/>
          <p:cNvSpPr/>
          <p:nvPr/>
        </p:nvSpPr>
        <p:spPr>
          <a:xfrm>
            <a:off x="4809744" y="2249424"/>
            <a:ext cx="45720" cy="201168"/>
          </a:xfrm>
          <a:prstGeom prst="rect">
            <a:avLst/>
          </a:prstGeom>
          <a:solidFill>
            <a:srgbClr val="0D9488"/>
          </a:solidFill>
          <a:ln w="12700">
            <a:solidFill>
              <a:srgbClr val="0D9488"/>
            </a:solidFill>
            <a:prstDash val="solid"/>
          </a:ln>
        </p:spPr>
        <p:txBody>
          <a:bodyPr/>
          <a:lstStyle/>
          <a:p>
            <a:endParaRPr lang="en-US"/>
          </a:p>
        </p:txBody>
      </p:sp>
      <p:sp>
        <p:nvSpPr>
          <p:cNvPr id="15" name="Text 13"/>
          <p:cNvSpPr/>
          <p:nvPr/>
        </p:nvSpPr>
        <p:spPr>
          <a:xfrm>
            <a:off x="4901184" y="2212848"/>
            <a:ext cx="3895344" cy="274320"/>
          </a:xfrm>
          <a:prstGeom prst="rect">
            <a:avLst/>
          </a:prstGeom>
          <a:noFill/>
          <a:ln/>
        </p:spPr>
        <p:txBody>
          <a:bodyPr wrap="square" lIns="0" tIns="0" rIns="0" bIns="0" rtlCol="0" anchor="ctr"/>
          <a:lstStyle/>
          <a:p>
            <a:pPr marL="0" indent="0">
              <a:buNone/>
            </a:pPr>
            <a:r>
              <a:rPr lang="en-US" sz="1200" b="1" kern="0" spc="200" dirty="0">
                <a:solidFill>
                  <a:srgbClr val="0D9488"/>
                </a:solidFill>
                <a:latin typeface="Calibri" pitchFamily="34" charset="0"/>
                <a:ea typeface="Calibri" pitchFamily="34" charset="-122"/>
                <a:cs typeface="Calibri" pitchFamily="34" charset="-120"/>
              </a:rPr>
              <a:t>INTRODUCTION</a:t>
            </a:r>
            <a:endParaRPr lang="en-US" sz="900" dirty="0"/>
          </a:p>
        </p:txBody>
      </p:sp>
      <p:sp>
        <p:nvSpPr>
          <p:cNvPr id="16" name="Text 14"/>
          <p:cNvSpPr/>
          <p:nvPr/>
        </p:nvSpPr>
        <p:spPr>
          <a:xfrm>
            <a:off x="4809744" y="2578608"/>
            <a:ext cx="3986784" cy="1938528"/>
          </a:xfrm>
          <a:prstGeom prst="rect">
            <a:avLst/>
          </a:prstGeom>
          <a:noFill/>
          <a:ln/>
        </p:spPr>
        <p:txBody>
          <a:bodyPr wrap="square" lIns="0" tIns="0" rIns="0" bIns="0" rtlCol="0" anchor="t"/>
          <a:lstStyle/>
          <a:p>
            <a:pPr marL="0" indent="0" algn="l">
              <a:spcAft>
                <a:spcPts val="200"/>
              </a:spcAft>
              <a:buNone/>
            </a:pPr>
            <a:r>
              <a:rPr lang="en-US" sz="780" dirty="0">
                <a:solidFill>
                  <a:srgbClr val="475569"/>
                </a:solidFill>
                <a:latin typeface="Calibri" pitchFamily="34" charset="0"/>
                <a:ea typeface="Calibri" pitchFamily="34" charset="-122"/>
                <a:cs typeface="Calibri" pitchFamily="34" charset="-120"/>
              </a:rPr>
              <a:t>Recent advances in machine learning have significantly expanded clinical decision support in rheumatology. Supervised models predict disease activity and guide therapeutic choices, while unsupervised approaches stratify patients into clinically meaningful phenotypes, enabling more personalized care.</a:t>
            </a:r>
            <a:endParaRPr lang="en-US" sz="780" dirty="0"/>
          </a:p>
          <a:p>
            <a:pPr marL="0" indent="0" algn="l">
              <a:spcAft>
                <a:spcPts val="200"/>
              </a:spcAft>
              <a:buNone/>
            </a:pPr>
            <a:endParaRPr lang="en-US" sz="780" dirty="0"/>
          </a:p>
          <a:p>
            <a:pPr marL="0" indent="0" algn="l">
              <a:spcAft>
                <a:spcPts val="200"/>
              </a:spcAft>
              <a:buNone/>
            </a:pPr>
            <a:r>
              <a:rPr lang="en-US" sz="780" dirty="0">
                <a:solidFill>
                  <a:srgbClr val="475569"/>
                </a:solidFill>
                <a:latin typeface="Calibri" pitchFamily="34" charset="0"/>
                <a:ea typeface="Calibri" pitchFamily="34" charset="-122"/>
                <a:cs typeface="Calibri" pitchFamily="34" charset="-120"/>
              </a:rPr>
              <a:t>Generative AI — particularly large language models such as GPT-4 — represents a further paradigm shift, demonstrating promising diagnostic support, enhanced patient education, and accelerated research workflows.</a:t>
            </a:r>
            <a:endParaRPr lang="en-US" sz="780" dirty="0"/>
          </a:p>
          <a:p>
            <a:pPr marL="0" indent="0" algn="l">
              <a:spcAft>
                <a:spcPts val="200"/>
              </a:spcAft>
              <a:buNone/>
            </a:pPr>
            <a:endParaRPr lang="en-US" sz="780" dirty="0"/>
          </a:p>
          <a:p>
            <a:pPr marL="0" indent="0" algn="l">
              <a:spcAft>
                <a:spcPts val="200"/>
              </a:spcAft>
              <a:buNone/>
            </a:pPr>
            <a:r>
              <a:rPr lang="en-US" sz="780" dirty="0">
                <a:solidFill>
                  <a:srgbClr val="475569"/>
                </a:solidFill>
                <a:latin typeface="Calibri" pitchFamily="34" charset="0"/>
                <a:ea typeface="Calibri" pitchFamily="34" charset="-122"/>
                <a:cs typeface="Calibri" pitchFamily="34" charset="-120"/>
              </a:rPr>
              <a:t>However, translation into routine clinical practice remains limited due to algorithmic bias, insufficient external validation, lack of model transparency, and gaps in clinician training. These constraints underscore the need for rigorous evaluation frameworks and structured integration strategies.</a:t>
            </a:r>
            <a:endParaRPr lang="en-US" sz="780" dirty="0"/>
          </a:p>
        </p:txBody>
      </p:sp>
      <p:sp>
        <p:nvSpPr>
          <p:cNvPr id="17" name="Shape 15"/>
          <p:cNvSpPr/>
          <p:nvPr/>
        </p:nvSpPr>
        <p:spPr>
          <a:xfrm>
            <a:off x="164592" y="4736592"/>
            <a:ext cx="4352544" cy="3721608"/>
          </a:xfrm>
          <a:prstGeom prst="rect">
            <a:avLst/>
          </a:prstGeom>
          <a:solidFill>
            <a:srgbClr val="FFFFFF"/>
          </a:solidFill>
          <a:ln w="6350">
            <a:solidFill>
              <a:srgbClr val="E2E8F0"/>
            </a:solidFill>
            <a:prstDash val="solid"/>
          </a:ln>
          <a:effectLst>
            <a:outerShdw blurRad="101600" dist="25400" dir="8100000" algn="bl" rotWithShape="0">
              <a:srgbClr val="000000">
                <a:alpha val="6000"/>
              </a:srgbClr>
            </a:outerShdw>
          </a:effectLst>
        </p:spPr>
        <p:txBody>
          <a:bodyPr/>
          <a:lstStyle/>
          <a:p>
            <a:endParaRPr lang="en-US"/>
          </a:p>
        </p:txBody>
      </p:sp>
      <p:sp>
        <p:nvSpPr>
          <p:cNvPr id="18" name="Shape 16"/>
          <p:cNvSpPr/>
          <p:nvPr/>
        </p:nvSpPr>
        <p:spPr>
          <a:xfrm>
            <a:off x="347472" y="4956048"/>
            <a:ext cx="45720" cy="201168"/>
          </a:xfrm>
          <a:prstGeom prst="rect">
            <a:avLst/>
          </a:prstGeom>
          <a:solidFill>
            <a:srgbClr val="0D9488"/>
          </a:solidFill>
          <a:ln w="12700">
            <a:solidFill>
              <a:srgbClr val="0D9488"/>
            </a:solidFill>
            <a:prstDash val="solid"/>
          </a:ln>
        </p:spPr>
        <p:txBody>
          <a:bodyPr/>
          <a:lstStyle/>
          <a:p>
            <a:endParaRPr lang="en-US"/>
          </a:p>
        </p:txBody>
      </p:sp>
      <p:sp>
        <p:nvSpPr>
          <p:cNvPr id="19" name="Text 17"/>
          <p:cNvSpPr/>
          <p:nvPr/>
        </p:nvSpPr>
        <p:spPr>
          <a:xfrm>
            <a:off x="438912" y="4919472"/>
            <a:ext cx="3895344" cy="274320"/>
          </a:xfrm>
          <a:prstGeom prst="rect">
            <a:avLst/>
          </a:prstGeom>
          <a:noFill/>
          <a:ln/>
        </p:spPr>
        <p:txBody>
          <a:bodyPr wrap="square" lIns="0" tIns="0" rIns="0" bIns="0" rtlCol="0" anchor="ctr"/>
          <a:lstStyle/>
          <a:p>
            <a:pPr marL="0" indent="0">
              <a:buNone/>
            </a:pPr>
            <a:r>
              <a:rPr lang="en-US" sz="1200" b="1" kern="0" spc="200" dirty="0">
                <a:solidFill>
                  <a:srgbClr val="0D9488"/>
                </a:solidFill>
                <a:latin typeface="Calibri" pitchFamily="34" charset="0"/>
                <a:ea typeface="Calibri" pitchFamily="34" charset="-122"/>
                <a:cs typeface="Calibri" pitchFamily="34" charset="-120"/>
              </a:rPr>
              <a:t>METHODOLOGY</a:t>
            </a:r>
            <a:endParaRPr lang="en-US" sz="900" dirty="0"/>
          </a:p>
        </p:txBody>
      </p:sp>
      <p:sp>
        <p:nvSpPr>
          <p:cNvPr id="20" name="Text 18"/>
          <p:cNvSpPr/>
          <p:nvPr/>
        </p:nvSpPr>
        <p:spPr>
          <a:xfrm>
            <a:off x="347472" y="5285232"/>
            <a:ext cx="3986784" cy="201168"/>
          </a:xfrm>
          <a:prstGeom prst="rect">
            <a:avLst/>
          </a:prstGeom>
          <a:noFill/>
          <a:ln/>
        </p:spPr>
        <p:txBody>
          <a:bodyPr wrap="square" lIns="0" tIns="0" rIns="0" bIns="0" rtlCol="0" anchor="t"/>
          <a:lstStyle/>
          <a:p>
            <a:pPr marL="0" indent="0" algn="l">
              <a:spcAft>
                <a:spcPts val="200"/>
              </a:spcAft>
              <a:buNone/>
            </a:pPr>
            <a:r>
              <a:rPr lang="en-US" sz="780" dirty="0">
                <a:solidFill>
                  <a:srgbClr val="475569"/>
                </a:solidFill>
                <a:latin typeface="Calibri" pitchFamily="34" charset="0"/>
                <a:ea typeface="Calibri" pitchFamily="34" charset="-122"/>
                <a:cs typeface="Calibri" pitchFamily="34" charset="-120"/>
              </a:rPr>
              <a:t>Full-stack system design integrating AI into clinical workflows:</a:t>
            </a:r>
            <a:endParaRPr lang="en-US" sz="780" dirty="0"/>
          </a:p>
        </p:txBody>
      </p:sp>
      <p:sp>
        <p:nvSpPr>
          <p:cNvPr id="21" name="Shape 19"/>
          <p:cNvSpPr/>
          <p:nvPr/>
        </p:nvSpPr>
        <p:spPr>
          <a:xfrm>
            <a:off x="347472" y="5596128"/>
            <a:ext cx="73152" cy="73152"/>
          </a:xfrm>
          <a:prstGeom prst="ellipse">
            <a:avLst/>
          </a:prstGeom>
          <a:solidFill>
            <a:srgbClr val="0D9488"/>
          </a:solidFill>
          <a:ln w="12700">
            <a:solidFill>
              <a:srgbClr val="0D9488"/>
            </a:solidFill>
            <a:prstDash val="solid"/>
          </a:ln>
        </p:spPr>
        <p:txBody>
          <a:bodyPr/>
          <a:lstStyle/>
          <a:p>
            <a:endParaRPr lang="en-US"/>
          </a:p>
        </p:txBody>
      </p:sp>
      <p:sp>
        <p:nvSpPr>
          <p:cNvPr id="22" name="Text 20"/>
          <p:cNvSpPr/>
          <p:nvPr/>
        </p:nvSpPr>
        <p:spPr>
          <a:xfrm>
            <a:off x="475488" y="5522976"/>
            <a:ext cx="3858768" cy="219456"/>
          </a:xfrm>
          <a:prstGeom prst="rect">
            <a:avLst/>
          </a:prstGeom>
          <a:noFill/>
          <a:ln/>
        </p:spPr>
        <p:txBody>
          <a:bodyPr wrap="square" lIns="0" tIns="0" rIns="0" bIns="0" rtlCol="0" anchor="ctr"/>
          <a:lstStyle/>
          <a:p>
            <a:pPr marL="0" indent="0">
              <a:buNone/>
            </a:pPr>
            <a:r>
              <a:rPr lang="en-US" sz="750" b="1" dirty="0">
                <a:solidFill>
                  <a:srgbClr val="1E293B"/>
                </a:solidFill>
                <a:latin typeface="Calibri" pitchFamily="34" charset="0"/>
                <a:ea typeface="Calibri" pitchFamily="34" charset="-122"/>
                <a:cs typeface="Calibri" pitchFamily="34" charset="-120"/>
              </a:rPr>
              <a:t>Architecture  </a:t>
            </a:r>
            <a:r>
              <a:rPr lang="en-US" sz="750" dirty="0">
                <a:solidFill>
                  <a:srgbClr val="475569"/>
                </a:solidFill>
                <a:latin typeface="Calibri" pitchFamily="34" charset="0"/>
                <a:ea typeface="Calibri" pitchFamily="34" charset="-122"/>
                <a:cs typeface="Calibri" pitchFamily="34" charset="-120"/>
              </a:rPr>
              <a:t>Multi-layer (client · API · business logic · data layer)</a:t>
            </a:r>
            <a:endParaRPr lang="en-US" sz="750" dirty="0"/>
          </a:p>
        </p:txBody>
      </p:sp>
      <p:sp>
        <p:nvSpPr>
          <p:cNvPr id="23" name="Shape 21"/>
          <p:cNvSpPr/>
          <p:nvPr/>
        </p:nvSpPr>
        <p:spPr>
          <a:xfrm>
            <a:off x="347472" y="5815584"/>
            <a:ext cx="73152" cy="73152"/>
          </a:xfrm>
          <a:prstGeom prst="ellipse">
            <a:avLst/>
          </a:prstGeom>
          <a:solidFill>
            <a:srgbClr val="0D9488"/>
          </a:solidFill>
          <a:ln w="12700">
            <a:solidFill>
              <a:srgbClr val="0D9488"/>
            </a:solidFill>
            <a:prstDash val="solid"/>
          </a:ln>
        </p:spPr>
        <p:txBody>
          <a:bodyPr/>
          <a:lstStyle/>
          <a:p>
            <a:endParaRPr lang="en-US"/>
          </a:p>
        </p:txBody>
      </p:sp>
      <p:sp>
        <p:nvSpPr>
          <p:cNvPr id="24" name="Text 22"/>
          <p:cNvSpPr/>
          <p:nvPr/>
        </p:nvSpPr>
        <p:spPr>
          <a:xfrm>
            <a:off x="475488" y="5769864"/>
            <a:ext cx="3858768" cy="219456"/>
          </a:xfrm>
          <a:prstGeom prst="rect">
            <a:avLst/>
          </a:prstGeom>
          <a:noFill/>
          <a:ln/>
        </p:spPr>
        <p:txBody>
          <a:bodyPr wrap="square" lIns="0" tIns="0" rIns="0" bIns="0" rtlCol="0" anchor="ctr"/>
          <a:lstStyle/>
          <a:p>
            <a:pPr marL="0" indent="0">
              <a:buNone/>
            </a:pPr>
            <a:r>
              <a:rPr lang="en-US" sz="750" b="1" dirty="0">
                <a:solidFill>
                  <a:srgbClr val="1E293B"/>
                </a:solidFill>
                <a:latin typeface="Calibri" pitchFamily="34" charset="0"/>
                <a:ea typeface="Calibri" pitchFamily="34" charset="-122"/>
                <a:cs typeface="Calibri" pitchFamily="34" charset="-120"/>
              </a:rPr>
              <a:t>Backend  </a:t>
            </a:r>
            <a:r>
              <a:rPr lang="en-US" sz="750" dirty="0">
                <a:solidFill>
                  <a:srgbClr val="475569"/>
                </a:solidFill>
                <a:latin typeface="Calibri" pitchFamily="34" charset="0"/>
                <a:ea typeface="Calibri" pitchFamily="34" charset="-122"/>
                <a:cs typeface="Calibri" pitchFamily="34" charset="-120"/>
              </a:rPr>
              <a:t>FastAPI with RESTful endpoints</a:t>
            </a:r>
            <a:endParaRPr lang="en-US" sz="750" dirty="0"/>
          </a:p>
        </p:txBody>
      </p:sp>
      <p:sp>
        <p:nvSpPr>
          <p:cNvPr id="25" name="Shape 23"/>
          <p:cNvSpPr/>
          <p:nvPr/>
        </p:nvSpPr>
        <p:spPr>
          <a:xfrm>
            <a:off x="347472" y="6062472"/>
            <a:ext cx="73152" cy="73152"/>
          </a:xfrm>
          <a:prstGeom prst="ellipse">
            <a:avLst/>
          </a:prstGeom>
          <a:solidFill>
            <a:srgbClr val="0D9488"/>
          </a:solidFill>
          <a:ln w="12700">
            <a:solidFill>
              <a:srgbClr val="0D9488"/>
            </a:solidFill>
            <a:prstDash val="solid"/>
          </a:ln>
        </p:spPr>
        <p:txBody>
          <a:bodyPr/>
          <a:lstStyle/>
          <a:p>
            <a:endParaRPr lang="en-US"/>
          </a:p>
        </p:txBody>
      </p:sp>
      <p:sp>
        <p:nvSpPr>
          <p:cNvPr id="26" name="Text 24"/>
          <p:cNvSpPr/>
          <p:nvPr/>
        </p:nvSpPr>
        <p:spPr>
          <a:xfrm>
            <a:off x="475488" y="6016752"/>
            <a:ext cx="3858768" cy="219456"/>
          </a:xfrm>
          <a:prstGeom prst="rect">
            <a:avLst/>
          </a:prstGeom>
          <a:noFill/>
          <a:ln/>
        </p:spPr>
        <p:txBody>
          <a:bodyPr wrap="square" lIns="0" tIns="0" rIns="0" bIns="0" rtlCol="0" anchor="ctr"/>
          <a:lstStyle/>
          <a:p>
            <a:pPr marL="0" indent="0">
              <a:buNone/>
            </a:pPr>
            <a:r>
              <a:rPr lang="en-US" sz="750" b="1" dirty="0">
                <a:solidFill>
                  <a:srgbClr val="1E293B"/>
                </a:solidFill>
                <a:latin typeface="Calibri" pitchFamily="34" charset="0"/>
                <a:ea typeface="Calibri" pitchFamily="34" charset="-122"/>
                <a:cs typeface="Calibri" pitchFamily="34" charset="-120"/>
              </a:rPr>
              <a:t>Frontend  </a:t>
            </a:r>
            <a:r>
              <a:rPr lang="en-US" sz="750" dirty="0">
                <a:solidFill>
                  <a:srgbClr val="475569"/>
                </a:solidFill>
                <a:latin typeface="Calibri" pitchFamily="34" charset="0"/>
                <a:ea typeface="Calibri" pitchFamily="34" charset="-122"/>
                <a:cs typeface="Calibri" pitchFamily="34" charset="-120"/>
              </a:rPr>
              <a:t>React (web) and React Native (mobile)</a:t>
            </a:r>
            <a:endParaRPr lang="en-US" sz="750" dirty="0"/>
          </a:p>
        </p:txBody>
      </p:sp>
      <p:sp>
        <p:nvSpPr>
          <p:cNvPr id="27" name="Shape 25"/>
          <p:cNvSpPr/>
          <p:nvPr/>
        </p:nvSpPr>
        <p:spPr>
          <a:xfrm>
            <a:off x="347472" y="6309360"/>
            <a:ext cx="73152" cy="73152"/>
          </a:xfrm>
          <a:prstGeom prst="ellipse">
            <a:avLst/>
          </a:prstGeom>
          <a:solidFill>
            <a:srgbClr val="0D9488"/>
          </a:solidFill>
          <a:ln w="12700">
            <a:solidFill>
              <a:srgbClr val="0D9488"/>
            </a:solidFill>
            <a:prstDash val="solid"/>
          </a:ln>
        </p:spPr>
        <p:txBody>
          <a:bodyPr/>
          <a:lstStyle/>
          <a:p>
            <a:endParaRPr lang="en-US"/>
          </a:p>
        </p:txBody>
      </p:sp>
      <p:sp>
        <p:nvSpPr>
          <p:cNvPr id="28" name="Text 26"/>
          <p:cNvSpPr/>
          <p:nvPr/>
        </p:nvSpPr>
        <p:spPr>
          <a:xfrm>
            <a:off x="475488" y="6263640"/>
            <a:ext cx="3858768" cy="219456"/>
          </a:xfrm>
          <a:prstGeom prst="rect">
            <a:avLst/>
          </a:prstGeom>
          <a:noFill/>
          <a:ln/>
        </p:spPr>
        <p:txBody>
          <a:bodyPr wrap="square" lIns="0" tIns="0" rIns="0" bIns="0" rtlCol="0" anchor="ctr"/>
          <a:lstStyle/>
          <a:p>
            <a:pPr marL="0" indent="0">
              <a:buNone/>
            </a:pPr>
            <a:r>
              <a:rPr lang="en-US" sz="750" b="1" dirty="0">
                <a:solidFill>
                  <a:srgbClr val="1E293B"/>
                </a:solidFill>
                <a:latin typeface="Calibri" pitchFamily="34" charset="0"/>
                <a:ea typeface="Calibri" pitchFamily="34" charset="-122"/>
                <a:cs typeface="Calibri" pitchFamily="34" charset="-120"/>
              </a:rPr>
              <a:t>Database  </a:t>
            </a:r>
            <a:r>
              <a:rPr lang="en-US" sz="750" dirty="0">
                <a:solidFill>
                  <a:srgbClr val="475569"/>
                </a:solidFill>
                <a:latin typeface="Calibri" pitchFamily="34" charset="0"/>
                <a:ea typeface="Calibri" pitchFamily="34" charset="-122"/>
                <a:cs typeface="Calibri" pitchFamily="34" charset="-120"/>
              </a:rPr>
              <a:t>MySQL with structured clinical schema</a:t>
            </a:r>
            <a:endParaRPr lang="en-US" sz="750" dirty="0"/>
          </a:p>
        </p:txBody>
      </p:sp>
      <p:sp>
        <p:nvSpPr>
          <p:cNvPr id="29" name="Shape 27"/>
          <p:cNvSpPr/>
          <p:nvPr/>
        </p:nvSpPr>
        <p:spPr>
          <a:xfrm>
            <a:off x="347472" y="6556248"/>
            <a:ext cx="73152" cy="73152"/>
          </a:xfrm>
          <a:prstGeom prst="ellipse">
            <a:avLst/>
          </a:prstGeom>
          <a:solidFill>
            <a:srgbClr val="0D9488"/>
          </a:solidFill>
          <a:ln w="12700">
            <a:solidFill>
              <a:srgbClr val="0D9488"/>
            </a:solidFill>
            <a:prstDash val="solid"/>
          </a:ln>
        </p:spPr>
        <p:txBody>
          <a:bodyPr/>
          <a:lstStyle/>
          <a:p>
            <a:endParaRPr lang="en-US"/>
          </a:p>
        </p:txBody>
      </p:sp>
      <p:sp>
        <p:nvSpPr>
          <p:cNvPr id="30" name="Text 28"/>
          <p:cNvSpPr/>
          <p:nvPr/>
        </p:nvSpPr>
        <p:spPr>
          <a:xfrm>
            <a:off x="475488" y="6510528"/>
            <a:ext cx="3858768" cy="219456"/>
          </a:xfrm>
          <a:prstGeom prst="rect">
            <a:avLst/>
          </a:prstGeom>
          <a:noFill/>
          <a:ln/>
        </p:spPr>
        <p:txBody>
          <a:bodyPr wrap="square" lIns="0" tIns="0" rIns="0" bIns="0" rtlCol="0" anchor="ctr"/>
          <a:lstStyle/>
          <a:p>
            <a:pPr marL="0" indent="0">
              <a:buNone/>
            </a:pPr>
            <a:r>
              <a:rPr lang="en-US" sz="750" b="1" dirty="0">
                <a:solidFill>
                  <a:srgbClr val="1E293B"/>
                </a:solidFill>
                <a:latin typeface="Calibri" pitchFamily="34" charset="0"/>
                <a:ea typeface="Calibri" pitchFamily="34" charset="-122"/>
                <a:cs typeface="Calibri" pitchFamily="34" charset="-120"/>
              </a:rPr>
              <a:t>AI Engine  </a:t>
            </a:r>
            <a:r>
              <a:rPr lang="en-US" sz="750" dirty="0">
                <a:solidFill>
                  <a:srgbClr val="475569"/>
                </a:solidFill>
                <a:latin typeface="Calibri" pitchFamily="34" charset="0"/>
                <a:ea typeface="Calibri" pitchFamily="34" charset="-122"/>
                <a:cs typeface="Calibri" pitchFamily="34" charset="-120"/>
              </a:rPr>
              <a:t>Local LLM — BioMistral via Ollama</a:t>
            </a:r>
            <a:endParaRPr lang="en-US" sz="750" dirty="0"/>
          </a:p>
        </p:txBody>
      </p:sp>
      <p:sp>
        <p:nvSpPr>
          <p:cNvPr id="31" name="Shape 29"/>
          <p:cNvSpPr/>
          <p:nvPr/>
        </p:nvSpPr>
        <p:spPr>
          <a:xfrm>
            <a:off x="347472" y="6803136"/>
            <a:ext cx="73152" cy="73152"/>
          </a:xfrm>
          <a:prstGeom prst="ellipse">
            <a:avLst/>
          </a:prstGeom>
          <a:solidFill>
            <a:srgbClr val="0D9488"/>
          </a:solidFill>
          <a:ln w="12700">
            <a:solidFill>
              <a:srgbClr val="0D9488"/>
            </a:solidFill>
            <a:prstDash val="solid"/>
          </a:ln>
        </p:spPr>
        <p:txBody>
          <a:bodyPr/>
          <a:lstStyle/>
          <a:p>
            <a:endParaRPr lang="en-US"/>
          </a:p>
        </p:txBody>
      </p:sp>
      <p:sp>
        <p:nvSpPr>
          <p:cNvPr id="32" name="Text 30"/>
          <p:cNvSpPr/>
          <p:nvPr/>
        </p:nvSpPr>
        <p:spPr>
          <a:xfrm>
            <a:off x="475488" y="6757416"/>
            <a:ext cx="3858768" cy="219456"/>
          </a:xfrm>
          <a:prstGeom prst="rect">
            <a:avLst/>
          </a:prstGeom>
          <a:noFill/>
          <a:ln/>
        </p:spPr>
        <p:txBody>
          <a:bodyPr wrap="square" lIns="0" tIns="0" rIns="0" bIns="0" rtlCol="0" anchor="ctr"/>
          <a:lstStyle/>
          <a:p>
            <a:pPr marL="0" indent="0">
              <a:buNone/>
            </a:pPr>
            <a:r>
              <a:rPr lang="en-US" sz="750" b="1" dirty="0">
                <a:solidFill>
                  <a:srgbClr val="1E293B"/>
                </a:solidFill>
                <a:latin typeface="Calibri" pitchFamily="34" charset="0"/>
                <a:ea typeface="Calibri" pitchFamily="34" charset="-122"/>
                <a:cs typeface="Calibri" pitchFamily="34" charset="-120"/>
              </a:rPr>
              <a:t>Security  </a:t>
            </a:r>
            <a:r>
              <a:rPr lang="en-US" sz="750" dirty="0">
                <a:solidFill>
                  <a:srgbClr val="475569"/>
                </a:solidFill>
                <a:latin typeface="Calibri" pitchFamily="34" charset="0"/>
                <a:ea typeface="Calibri" pitchFamily="34" charset="-122"/>
                <a:cs typeface="Calibri" pitchFamily="34" charset="-120"/>
              </a:rPr>
              <a:t>JWT auth · role-based access control · audit logging</a:t>
            </a:r>
            <a:endParaRPr lang="en-US" sz="750" dirty="0"/>
          </a:p>
        </p:txBody>
      </p:sp>
      <p:sp>
        <p:nvSpPr>
          <p:cNvPr id="33" name="Text 31"/>
          <p:cNvSpPr/>
          <p:nvPr/>
        </p:nvSpPr>
        <p:spPr>
          <a:xfrm>
            <a:off x="347472" y="7050024"/>
            <a:ext cx="3986784" cy="457200"/>
          </a:xfrm>
          <a:prstGeom prst="rect">
            <a:avLst/>
          </a:prstGeom>
          <a:noFill/>
          <a:ln/>
        </p:spPr>
        <p:txBody>
          <a:bodyPr wrap="square" lIns="0" tIns="0" rIns="0" bIns="0" rtlCol="0" anchor="t"/>
          <a:lstStyle/>
          <a:p>
            <a:pPr marL="0" indent="0" algn="l">
              <a:spcAft>
                <a:spcPts val="200"/>
              </a:spcAft>
              <a:buNone/>
            </a:pPr>
            <a:r>
              <a:rPr lang="en-US" sz="750" dirty="0">
                <a:solidFill>
                  <a:srgbClr val="475569"/>
                </a:solidFill>
                <a:latin typeface="Calibri" pitchFamily="34" charset="0"/>
                <a:ea typeface="Calibri" pitchFamily="34" charset="-122"/>
                <a:cs typeface="Calibri" pitchFamily="34" charset="-120"/>
              </a:rPr>
              <a:t>On-premise deployment (GDPR/CNDP) · Synchronous LLM inference for real-time usability · Structured clinical data model for interoperability. System was iteratively developed and validated in a real clinical environment.</a:t>
            </a:r>
            <a:endParaRPr lang="en-US" sz="750" dirty="0"/>
          </a:p>
        </p:txBody>
      </p:sp>
      <p:sp>
        <p:nvSpPr>
          <p:cNvPr id="34" name="Shape 32"/>
          <p:cNvSpPr/>
          <p:nvPr/>
        </p:nvSpPr>
        <p:spPr>
          <a:xfrm>
            <a:off x="4626864" y="4736592"/>
            <a:ext cx="4352544" cy="3721608"/>
          </a:xfrm>
          <a:prstGeom prst="rect">
            <a:avLst/>
          </a:prstGeom>
          <a:solidFill>
            <a:srgbClr val="FFFFFF"/>
          </a:solidFill>
          <a:ln w="6350">
            <a:solidFill>
              <a:srgbClr val="E2E8F0"/>
            </a:solidFill>
            <a:prstDash val="solid"/>
          </a:ln>
          <a:effectLst>
            <a:outerShdw blurRad="101600" dist="25400" dir="8100000" algn="bl" rotWithShape="0">
              <a:srgbClr val="000000">
                <a:alpha val="6000"/>
              </a:srgbClr>
            </a:outerShdw>
          </a:effectLst>
        </p:spPr>
        <p:txBody>
          <a:bodyPr/>
          <a:lstStyle/>
          <a:p>
            <a:endParaRPr lang="en-US"/>
          </a:p>
        </p:txBody>
      </p:sp>
      <p:sp>
        <p:nvSpPr>
          <p:cNvPr id="35" name="Shape 33"/>
          <p:cNvSpPr/>
          <p:nvPr/>
        </p:nvSpPr>
        <p:spPr>
          <a:xfrm>
            <a:off x="4809744" y="4956048"/>
            <a:ext cx="45720" cy="201168"/>
          </a:xfrm>
          <a:prstGeom prst="rect">
            <a:avLst/>
          </a:prstGeom>
          <a:solidFill>
            <a:srgbClr val="0D9488"/>
          </a:solidFill>
          <a:ln w="12700">
            <a:solidFill>
              <a:srgbClr val="0D9488"/>
            </a:solidFill>
            <a:prstDash val="solid"/>
          </a:ln>
        </p:spPr>
        <p:txBody>
          <a:bodyPr/>
          <a:lstStyle/>
          <a:p>
            <a:endParaRPr lang="en-US"/>
          </a:p>
        </p:txBody>
      </p:sp>
      <p:sp>
        <p:nvSpPr>
          <p:cNvPr id="36" name="Text 34"/>
          <p:cNvSpPr/>
          <p:nvPr/>
        </p:nvSpPr>
        <p:spPr>
          <a:xfrm>
            <a:off x="4901184" y="4919472"/>
            <a:ext cx="3895344" cy="274320"/>
          </a:xfrm>
          <a:prstGeom prst="rect">
            <a:avLst/>
          </a:prstGeom>
          <a:noFill/>
          <a:ln/>
        </p:spPr>
        <p:txBody>
          <a:bodyPr wrap="square" lIns="0" tIns="0" rIns="0" bIns="0" rtlCol="0" anchor="ctr"/>
          <a:lstStyle/>
          <a:p>
            <a:pPr marL="0" indent="0">
              <a:buNone/>
            </a:pPr>
            <a:r>
              <a:rPr lang="en-US" sz="1200" b="1" kern="0" spc="200" dirty="0">
                <a:solidFill>
                  <a:srgbClr val="0D9488"/>
                </a:solidFill>
                <a:latin typeface="Calibri" pitchFamily="34" charset="0"/>
                <a:ea typeface="Calibri" pitchFamily="34" charset="-122"/>
                <a:cs typeface="Calibri" pitchFamily="34" charset="-120"/>
              </a:rPr>
              <a:t>RESULTS &amp; DISCUSSION</a:t>
            </a:r>
            <a:endParaRPr lang="en-US" sz="1200" dirty="0"/>
          </a:p>
        </p:txBody>
      </p:sp>
      <p:sp>
        <p:nvSpPr>
          <p:cNvPr id="37" name="Shape 35"/>
          <p:cNvSpPr/>
          <p:nvPr/>
        </p:nvSpPr>
        <p:spPr>
          <a:xfrm>
            <a:off x="4809744" y="5266944"/>
            <a:ext cx="1243584" cy="658368"/>
          </a:xfrm>
          <a:prstGeom prst="rect">
            <a:avLst/>
          </a:prstGeom>
          <a:solidFill>
            <a:srgbClr val="F0F4F8"/>
          </a:solidFill>
          <a:ln w="6350">
            <a:solidFill>
              <a:srgbClr val="E2E8F0"/>
            </a:solidFill>
            <a:prstDash val="solid"/>
          </a:ln>
        </p:spPr>
        <p:txBody>
          <a:bodyPr/>
          <a:lstStyle/>
          <a:p>
            <a:endParaRPr lang="en-US"/>
          </a:p>
        </p:txBody>
      </p:sp>
      <p:sp>
        <p:nvSpPr>
          <p:cNvPr id="38" name="Text 36"/>
          <p:cNvSpPr/>
          <p:nvPr/>
        </p:nvSpPr>
        <p:spPr>
          <a:xfrm>
            <a:off x="4809744" y="5285232"/>
            <a:ext cx="1243584" cy="274320"/>
          </a:xfrm>
          <a:prstGeom prst="rect">
            <a:avLst/>
          </a:prstGeom>
          <a:noFill/>
          <a:ln/>
        </p:spPr>
        <p:txBody>
          <a:bodyPr wrap="square" lIns="0" tIns="0" rIns="0" bIns="0" rtlCol="0" anchor="ctr"/>
          <a:lstStyle/>
          <a:p>
            <a:pPr marL="0" indent="0" algn="ctr">
              <a:buNone/>
            </a:pPr>
            <a:r>
              <a:rPr lang="en-US" sz="1600" b="1" dirty="0">
                <a:solidFill>
                  <a:srgbClr val="0D9488"/>
                </a:solidFill>
                <a:latin typeface="Calibri" pitchFamily="34" charset="0"/>
                <a:ea typeface="Calibri" pitchFamily="34" charset="-122"/>
                <a:cs typeface="Calibri" pitchFamily="34" charset="-120"/>
              </a:rPr>
              <a:t>2–5 s</a:t>
            </a:r>
            <a:endParaRPr lang="en-US" sz="1600" dirty="0"/>
          </a:p>
        </p:txBody>
      </p:sp>
      <p:sp>
        <p:nvSpPr>
          <p:cNvPr id="39" name="Text 37"/>
          <p:cNvSpPr/>
          <p:nvPr/>
        </p:nvSpPr>
        <p:spPr>
          <a:xfrm>
            <a:off x="4809744" y="5577840"/>
            <a:ext cx="1243584" cy="310896"/>
          </a:xfrm>
          <a:prstGeom prst="rect">
            <a:avLst/>
          </a:prstGeom>
          <a:noFill/>
          <a:ln/>
        </p:spPr>
        <p:txBody>
          <a:bodyPr wrap="square" lIns="0" tIns="0" rIns="0" bIns="0" rtlCol="0" anchor="ctr"/>
          <a:lstStyle/>
          <a:p>
            <a:pPr marL="0" indent="0" algn="ctr">
              <a:buNone/>
            </a:pPr>
            <a:r>
              <a:rPr lang="en-US" sz="800" dirty="0">
                <a:solidFill>
                  <a:srgbClr val="94A3B8"/>
                </a:solidFill>
                <a:latin typeface="Calibri" pitchFamily="34" charset="0"/>
                <a:ea typeface="Calibri" pitchFamily="34" charset="-122"/>
                <a:cs typeface="Calibri" pitchFamily="34" charset="-120"/>
              </a:rPr>
              <a:t>AI consultation</a:t>
            </a:r>
            <a:endParaRPr lang="en-US" sz="800" dirty="0"/>
          </a:p>
          <a:p>
            <a:pPr marL="0" indent="0" algn="ctr">
              <a:buNone/>
            </a:pPr>
            <a:r>
              <a:rPr lang="en-US" sz="800" dirty="0">
                <a:solidFill>
                  <a:srgbClr val="94A3B8"/>
                </a:solidFill>
                <a:latin typeface="Calibri" pitchFamily="34" charset="0"/>
                <a:ea typeface="Calibri" pitchFamily="34" charset="-122"/>
                <a:cs typeface="Calibri" pitchFamily="34" charset="-120"/>
              </a:rPr>
              <a:t>response time</a:t>
            </a:r>
            <a:endParaRPr lang="en-US" sz="800" dirty="0"/>
          </a:p>
        </p:txBody>
      </p:sp>
      <p:sp>
        <p:nvSpPr>
          <p:cNvPr id="40" name="Shape 38"/>
          <p:cNvSpPr/>
          <p:nvPr/>
        </p:nvSpPr>
        <p:spPr>
          <a:xfrm>
            <a:off x="6126480" y="5266944"/>
            <a:ext cx="1243584" cy="658368"/>
          </a:xfrm>
          <a:prstGeom prst="rect">
            <a:avLst/>
          </a:prstGeom>
          <a:solidFill>
            <a:srgbClr val="F0F4F8"/>
          </a:solidFill>
          <a:ln w="6350">
            <a:solidFill>
              <a:srgbClr val="E2E8F0"/>
            </a:solidFill>
            <a:prstDash val="solid"/>
          </a:ln>
        </p:spPr>
        <p:txBody>
          <a:bodyPr/>
          <a:lstStyle/>
          <a:p>
            <a:endParaRPr lang="en-US"/>
          </a:p>
        </p:txBody>
      </p:sp>
      <p:sp>
        <p:nvSpPr>
          <p:cNvPr id="41" name="Text 39"/>
          <p:cNvSpPr/>
          <p:nvPr/>
        </p:nvSpPr>
        <p:spPr>
          <a:xfrm>
            <a:off x="6126480" y="5285232"/>
            <a:ext cx="1243584" cy="274320"/>
          </a:xfrm>
          <a:prstGeom prst="rect">
            <a:avLst/>
          </a:prstGeom>
          <a:noFill/>
          <a:ln/>
        </p:spPr>
        <p:txBody>
          <a:bodyPr wrap="square" lIns="0" tIns="0" rIns="0" bIns="0" rtlCol="0" anchor="ctr"/>
          <a:lstStyle/>
          <a:p>
            <a:pPr marL="0" indent="0" algn="ctr">
              <a:buNone/>
            </a:pPr>
            <a:r>
              <a:rPr lang="en-US" sz="1600" b="1" dirty="0">
                <a:solidFill>
                  <a:srgbClr val="0D9488"/>
                </a:solidFill>
                <a:latin typeface="Calibri" pitchFamily="34" charset="0"/>
                <a:ea typeface="Calibri" pitchFamily="34" charset="-122"/>
                <a:cs typeface="Calibri" pitchFamily="34" charset="-120"/>
              </a:rPr>
              <a:t>50–200 ms</a:t>
            </a:r>
            <a:endParaRPr lang="en-US" sz="1600" dirty="0"/>
          </a:p>
        </p:txBody>
      </p:sp>
      <p:sp>
        <p:nvSpPr>
          <p:cNvPr id="42" name="Text 40"/>
          <p:cNvSpPr/>
          <p:nvPr/>
        </p:nvSpPr>
        <p:spPr>
          <a:xfrm>
            <a:off x="6126480" y="5577840"/>
            <a:ext cx="1243584" cy="310896"/>
          </a:xfrm>
          <a:prstGeom prst="rect">
            <a:avLst/>
          </a:prstGeom>
          <a:noFill/>
          <a:ln/>
        </p:spPr>
        <p:txBody>
          <a:bodyPr wrap="square" lIns="0" tIns="0" rIns="0" bIns="0" rtlCol="0" anchor="ctr"/>
          <a:lstStyle/>
          <a:p>
            <a:pPr marL="0" indent="0" algn="ctr">
              <a:buNone/>
            </a:pPr>
            <a:r>
              <a:rPr lang="en-US" sz="800" dirty="0">
                <a:solidFill>
                  <a:srgbClr val="94A3B8"/>
                </a:solidFill>
                <a:latin typeface="Calibri" pitchFamily="34" charset="0"/>
                <a:ea typeface="Calibri" pitchFamily="34" charset="-122"/>
                <a:cs typeface="Calibri" pitchFamily="34" charset="-120"/>
              </a:rPr>
              <a:t>Standard data</a:t>
            </a:r>
          </a:p>
          <a:p>
            <a:pPr marL="0" indent="0" algn="ctr">
              <a:buNone/>
            </a:pPr>
            <a:r>
              <a:rPr lang="en-US" sz="800" dirty="0">
                <a:solidFill>
                  <a:srgbClr val="94A3B8"/>
                </a:solidFill>
                <a:latin typeface="Calibri" pitchFamily="34" charset="0"/>
                <a:ea typeface="Calibri" pitchFamily="34" charset="-122"/>
                <a:cs typeface="Calibri" pitchFamily="34" charset="-120"/>
              </a:rPr>
              <a:t>retrieval latency</a:t>
            </a:r>
            <a:endParaRPr lang="en-US" sz="800" dirty="0"/>
          </a:p>
        </p:txBody>
      </p:sp>
      <p:sp>
        <p:nvSpPr>
          <p:cNvPr id="43" name="Shape 41"/>
          <p:cNvSpPr/>
          <p:nvPr/>
        </p:nvSpPr>
        <p:spPr>
          <a:xfrm>
            <a:off x="7443216" y="5266944"/>
            <a:ext cx="1243584" cy="658368"/>
          </a:xfrm>
          <a:prstGeom prst="rect">
            <a:avLst/>
          </a:prstGeom>
          <a:solidFill>
            <a:srgbClr val="F0F4F8"/>
          </a:solidFill>
          <a:ln w="6350">
            <a:solidFill>
              <a:srgbClr val="E2E8F0"/>
            </a:solidFill>
            <a:prstDash val="solid"/>
          </a:ln>
        </p:spPr>
        <p:txBody>
          <a:bodyPr/>
          <a:lstStyle/>
          <a:p>
            <a:endParaRPr lang="en-US"/>
          </a:p>
        </p:txBody>
      </p:sp>
      <p:sp>
        <p:nvSpPr>
          <p:cNvPr id="44" name="Text 42"/>
          <p:cNvSpPr/>
          <p:nvPr/>
        </p:nvSpPr>
        <p:spPr>
          <a:xfrm>
            <a:off x="7443216" y="5285232"/>
            <a:ext cx="1243584" cy="274320"/>
          </a:xfrm>
          <a:prstGeom prst="rect">
            <a:avLst/>
          </a:prstGeom>
          <a:noFill/>
          <a:ln/>
        </p:spPr>
        <p:txBody>
          <a:bodyPr wrap="square" lIns="0" tIns="0" rIns="0" bIns="0" rtlCol="0" anchor="ctr"/>
          <a:lstStyle/>
          <a:p>
            <a:pPr marL="0" indent="0" algn="ctr">
              <a:buNone/>
            </a:pPr>
            <a:r>
              <a:rPr lang="en-US" sz="1600" b="1" dirty="0">
                <a:solidFill>
                  <a:srgbClr val="0D9488"/>
                </a:solidFill>
                <a:latin typeface="Calibri" pitchFamily="34" charset="0"/>
                <a:ea typeface="Calibri" pitchFamily="34" charset="-122"/>
                <a:cs typeface="Calibri" pitchFamily="34" charset="-120"/>
              </a:rPr>
              <a:t>18,000+</a:t>
            </a:r>
            <a:endParaRPr lang="en-US" sz="1600" dirty="0"/>
          </a:p>
        </p:txBody>
      </p:sp>
      <p:sp>
        <p:nvSpPr>
          <p:cNvPr id="45" name="Text 43"/>
          <p:cNvSpPr/>
          <p:nvPr/>
        </p:nvSpPr>
        <p:spPr>
          <a:xfrm>
            <a:off x="7443216" y="5577840"/>
            <a:ext cx="1243584" cy="310896"/>
          </a:xfrm>
          <a:prstGeom prst="rect">
            <a:avLst/>
          </a:prstGeom>
          <a:noFill/>
          <a:ln/>
        </p:spPr>
        <p:txBody>
          <a:bodyPr wrap="square" lIns="0" tIns="0" rIns="0" bIns="0" rtlCol="0" anchor="ctr"/>
          <a:lstStyle/>
          <a:p>
            <a:pPr marL="0" indent="0" algn="ctr">
              <a:buNone/>
            </a:pPr>
            <a:r>
              <a:rPr lang="en-US" sz="800" dirty="0">
                <a:solidFill>
                  <a:srgbClr val="94A3B8"/>
                </a:solidFill>
                <a:latin typeface="Calibri" pitchFamily="34" charset="0"/>
                <a:ea typeface="Calibri" pitchFamily="34" charset="-122"/>
                <a:cs typeface="Calibri" pitchFamily="34" charset="-120"/>
              </a:rPr>
              <a:t>Patient records</a:t>
            </a:r>
            <a:endParaRPr lang="en-US" sz="800" dirty="0"/>
          </a:p>
          <a:p>
            <a:pPr marL="0" indent="0" algn="ctr">
              <a:buNone/>
            </a:pPr>
            <a:r>
              <a:rPr lang="en-US" sz="800" dirty="0">
                <a:solidFill>
                  <a:srgbClr val="94A3B8"/>
                </a:solidFill>
                <a:latin typeface="Calibri" pitchFamily="34" charset="0"/>
                <a:ea typeface="Calibri" pitchFamily="34" charset="-122"/>
                <a:cs typeface="Calibri" pitchFamily="34" charset="-120"/>
              </a:rPr>
              <a:t>managed</a:t>
            </a:r>
            <a:endParaRPr lang="en-US" sz="800" dirty="0"/>
          </a:p>
        </p:txBody>
      </p:sp>
      <p:sp>
        <p:nvSpPr>
          <p:cNvPr id="46" name="Text 44"/>
          <p:cNvSpPr/>
          <p:nvPr/>
        </p:nvSpPr>
        <p:spPr>
          <a:xfrm>
            <a:off x="4809744" y="6016752"/>
            <a:ext cx="3986784" cy="1554480"/>
          </a:xfrm>
          <a:prstGeom prst="rect">
            <a:avLst/>
          </a:prstGeom>
          <a:noFill/>
          <a:ln/>
        </p:spPr>
        <p:txBody>
          <a:bodyPr wrap="square" lIns="0" tIns="0" rIns="0" bIns="0" rtlCol="0" anchor="t"/>
          <a:lstStyle/>
          <a:p>
            <a:pPr marL="0" indent="0" algn="l">
              <a:spcAft>
                <a:spcPts val="200"/>
              </a:spcAft>
              <a:buNone/>
            </a:pPr>
            <a:r>
              <a:rPr lang="en-US" sz="750" dirty="0">
                <a:solidFill>
                  <a:srgbClr val="475569"/>
                </a:solidFill>
                <a:latin typeface="Calibri" pitchFamily="34" charset="0"/>
                <a:ea typeface="Calibri" pitchFamily="34" charset="-122"/>
                <a:cs typeface="Calibri" pitchFamily="34" charset="-120"/>
              </a:rPr>
              <a:t>The RhumatoAI platform instantiates a bidirectional care coordination model in which patient-generated health data and clinician-directed diagnostic information converge within a locally-managed computational environment. Patients contribute symptom narratives; clinicians provide diagnoses and lab interpretations; the system mediates with AI-augmented recommendations — all within institutional infrastructure.</a:t>
            </a:r>
            <a:endParaRPr lang="en-US" sz="750" dirty="0"/>
          </a:p>
          <a:p>
            <a:pPr marL="0" indent="0" algn="l">
              <a:spcAft>
                <a:spcPts val="200"/>
              </a:spcAft>
              <a:buNone/>
            </a:pPr>
            <a:r>
              <a:rPr lang="en-US" sz="750" dirty="0">
                <a:solidFill>
                  <a:srgbClr val="475569"/>
                </a:solidFill>
                <a:latin typeface="Calibri" pitchFamily="34" charset="0"/>
                <a:ea typeface="Calibri" pitchFamily="34" charset="-122"/>
                <a:cs typeface="Calibri" pitchFamily="34" charset="-120"/>
              </a:rPr>
              <a:t>Core modules are fully operational: patient and clinical history management, appointment scheduling, medical documentation, and LLM-powered decision support. Role-based access control establishes hierarchical permission structures; comprehensive audit logging provides institutional accountability.</a:t>
            </a:r>
            <a:endParaRPr lang="en-US" sz="750" dirty="0"/>
          </a:p>
          <a:p>
            <a:pPr marL="0" indent="0" algn="l">
              <a:spcAft>
                <a:spcPts val="200"/>
              </a:spcAft>
              <a:buNone/>
            </a:pPr>
            <a:r>
              <a:rPr lang="en-US" sz="750" dirty="0">
                <a:solidFill>
                  <a:srgbClr val="475569"/>
                </a:solidFill>
                <a:latin typeface="Calibri" pitchFamily="34" charset="0"/>
                <a:ea typeface="Calibri" pitchFamily="34" charset="-122"/>
                <a:cs typeface="Calibri" pitchFamily="34" charset="-120"/>
              </a:rPr>
              <a:t>The single-instance BioMistral/Ollama deployment adequately sustains current workloads (10–20 concurrent practitioners per department). Horizontal scaling strategies — including multi-instance LLM orchestration and async task queues — are under evaluation for future deployment.</a:t>
            </a:r>
            <a:endParaRPr lang="en-US" sz="750" dirty="0"/>
          </a:p>
        </p:txBody>
      </p:sp>
      <p:sp>
        <p:nvSpPr>
          <p:cNvPr id="47" name="Shape 45"/>
          <p:cNvSpPr/>
          <p:nvPr/>
        </p:nvSpPr>
        <p:spPr>
          <a:xfrm>
            <a:off x="164592" y="8677656"/>
            <a:ext cx="4352544" cy="2651760"/>
          </a:xfrm>
          <a:prstGeom prst="rect">
            <a:avLst/>
          </a:prstGeom>
          <a:solidFill>
            <a:srgbClr val="FFFFFF"/>
          </a:solidFill>
          <a:ln w="6350">
            <a:solidFill>
              <a:srgbClr val="E2E8F0"/>
            </a:solidFill>
            <a:prstDash val="solid"/>
          </a:ln>
          <a:effectLst>
            <a:outerShdw blurRad="101600" dist="25400" dir="8100000" algn="bl" rotWithShape="0">
              <a:srgbClr val="000000">
                <a:alpha val="6000"/>
              </a:srgbClr>
            </a:outerShdw>
          </a:effectLst>
        </p:spPr>
        <p:txBody>
          <a:bodyPr/>
          <a:lstStyle/>
          <a:p>
            <a:endParaRPr lang="en-US"/>
          </a:p>
        </p:txBody>
      </p:sp>
      <p:sp>
        <p:nvSpPr>
          <p:cNvPr id="48" name="Shape 46"/>
          <p:cNvSpPr/>
          <p:nvPr/>
        </p:nvSpPr>
        <p:spPr>
          <a:xfrm>
            <a:off x="374904" y="8847117"/>
            <a:ext cx="45720" cy="201168"/>
          </a:xfrm>
          <a:prstGeom prst="rect">
            <a:avLst/>
          </a:prstGeom>
          <a:solidFill>
            <a:srgbClr val="0D9488"/>
          </a:solidFill>
          <a:ln w="12700">
            <a:solidFill>
              <a:srgbClr val="0D9488"/>
            </a:solidFill>
            <a:prstDash val="solid"/>
          </a:ln>
        </p:spPr>
        <p:txBody>
          <a:bodyPr/>
          <a:lstStyle/>
          <a:p>
            <a:endParaRPr lang="en-US"/>
          </a:p>
        </p:txBody>
      </p:sp>
      <p:sp>
        <p:nvSpPr>
          <p:cNvPr id="49" name="Text 47"/>
          <p:cNvSpPr/>
          <p:nvPr/>
        </p:nvSpPr>
        <p:spPr>
          <a:xfrm>
            <a:off x="525780" y="8825548"/>
            <a:ext cx="3895344" cy="274320"/>
          </a:xfrm>
          <a:prstGeom prst="rect">
            <a:avLst/>
          </a:prstGeom>
          <a:noFill/>
          <a:ln/>
        </p:spPr>
        <p:txBody>
          <a:bodyPr wrap="square" lIns="0" tIns="0" rIns="0" bIns="0" rtlCol="0" anchor="ctr"/>
          <a:lstStyle/>
          <a:p>
            <a:pPr marL="0" indent="0">
              <a:buNone/>
            </a:pPr>
            <a:r>
              <a:rPr lang="en-US" sz="1200" b="1" kern="0" spc="200" dirty="0">
                <a:solidFill>
                  <a:srgbClr val="0D9488"/>
                </a:solidFill>
                <a:latin typeface="Calibri" pitchFamily="34" charset="0"/>
                <a:ea typeface="Calibri" pitchFamily="34" charset="-122"/>
                <a:cs typeface="Calibri" pitchFamily="34" charset="-120"/>
              </a:rPr>
              <a:t>EVALUATION</a:t>
            </a:r>
            <a:endParaRPr lang="en-US" sz="1200" dirty="0"/>
          </a:p>
        </p:txBody>
      </p:sp>
      <p:sp>
        <p:nvSpPr>
          <p:cNvPr id="51" name="Text 49"/>
          <p:cNvSpPr/>
          <p:nvPr/>
        </p:nvSpPr>
        <p:spPr>
          <a:xfrm>
            <a:off x="438912" y="10451592"/>
            <a:ext cx="3858768" cy="256032"/>
          </a:xfrm>
          <a:prstGeom prst="rect">
            <a:avLst/>
          </a:prstGeom>
          <a:noFill/>
          <a:ln/>
        </p:spPr>
        <p:txBody>
          <a:bodyPr wrap="square" lIns="0" tIns="0" rIns="0" bIns="0" rtlCol="0" anchor="ctr"/>
          <a:lstStyle/>
          <a:p>
            <a:pPr marL="0" indent="0">
              <a:buNone/>
            </a:pPr>
            <a:r>
              <a:rPr lang="en-US" sz="750" dirty="0">
                <a:solidFill>
                  <a:srgbClr val="475569"/>
                </a:solidFill>
                <a:latin typeface="Calibri" pitchFamily="34" charset="0"/>
                <a:ea typeface="Calibri" pitchFamily="34" charset="-122"/>
                <a:cs typeface="Calibri" pitchFamily="34" charset="-120"/>
              </a:rPr>
              <a:t>Sub-5s response latency across all AI consultation features under load.</a:t>
            </a:r>
          </a:p>
          <a:p>
            <a:pPr marL="0" indent="0">
              <a:buNone/>
            </a:pPr>
            <a:endParaRPr lang="en-US" sz="750" dirty="0">
              <a:solidFill>
                <a:srgbClr val="475569"/>
              </a:solidFill>
              <a:latin typeface="Calibri" pitchFamily="34" charset="0"/>
              <a:ea typeface="Calibri" pitchFamily="34" charset="-122"/>
              <a:cs typeface="Calibri" pitchFamily="34" charset="-120"/>
            </a:endParaRPr>
          </a:p>
          <a:p>
            <a:r>
              <a:rPr lang="en-US" sz="750" dirty="0">
                <a:solidFill>
                  <a:srgbClr val="475569"/>
                </a:solidFill>
                <a:latin typeface="Calibri" pitchFamily="34" charset="0"/>
                <a:ea typeface="Calibri" pitchFamily="34" charset="-122"/>
                <a:cs typeface="Calibri" pitchFamily="34" charset="-120"/>
              </a:rPr>
              <a:t>20 concurrent clinical users supported per department without degradation.</a:t>
            </a:r>
          </a:p>
          <a:p>
            <a:endParaRPr lang="en-US" sz="750" dirty="0">
              <a:solidFill>
                <a:srgbClr val="475569"/>
              </a:solidFill>
              <a:latin typeface="Calibri" pitchFamily="34" charset="0"/>
              <a:ea typeface="Calibri" pitchFamily="34" charset="-122"/>
              <a:cs typeface="Calibri" pitchFamily="34" charset="-120"/>
            </a:endParaRPr>
          </a:p>
          <a:p>
            <a:r>
              <a:rPr lang="en-US" sz="750" dirty="0">
                <a:solidFill>
                  <a:srgbClr val="475569"/>
                </a:solidFill>
                <a:latin typeface="Calibri" pitchFamily="34" charset="0"/>
                <a:ea typeface="Calibri" pitchFamily="34" charset="-122"/>
                <a:cs typeface="Calibri" pitchFamily="34" charset="-120"/>
              </a:rPr>
              <a:t>Non-chat API endpoints: 50–200 ms, PDF generation 500 ms – 3 s.</a:t>
            </a:r>
          </a:p>
          <a:p>
            <a:endParaRPr lang="en-US" sz="750" dirty="0">
              <a:solidFill>
                <a:srgbClr val="475569"/>
              </a:solidFill>
              <a:latin typeface="Calibri" pitchFamily="34" charset="0"/>
              <a:ea typeface="Calibri" pitchFamily="34" charset="-122"/>
              <a:cs typeface="Calibri" pitchFamily="34" charset="-120"/>
            </a:endParaRPr>
          </a:p>
          <a:p>
            <a:r>
              <a:rPr lang="en-US" sz="750" dirty="0">
                <a:solidFill>
                  <a:srgbClr val="475569"/>
                </a:solidFill>
                <a:latin typeface="Calibri" pitchFamily="34" charset="0"/>
                <a:ea typeface="Calibri" pitchFamily="34" charset="-122"/>
                <a:cs typeface="Calibri" pitchFamily="34" charset="-120"/>
              </a:rPr>
              <a:t>JWT authentication and RBAC function reliably on web and mobile.</a:t>
            </a:r>
          </a:p>
          <a:p>
            <a:endParaRPr lang="en-US" sz="750" dirty="0">
              <a:solidFill>
                <a:srgbClr val="475569"/>
              </a:solidFill>
              <a:latin typeface="Calibri" pitchFamily="34" charset="0"/>
              <a:ea typeface="Calibri" pitchFamily="34" charset="-122"/>
              <a:cs typeface="Calibri" pitchFamily="34" charset="-120"/>
            </a:endParaRPr>
          </a:p>
          <a:p>
            <a:r>
              <a:rPr lang="en-US" sz="750" dirty="0">
                <a:solidFill>
                  <a:srgbClr val="475569"/>
                </a:solidFill>
                <a:latin typeface="Calibri" pitchFamily="34" charset="0"/>
                <a:ea typeface="Calibri" pitchFamily="34" charset="-122"/>
                <a:cs typeface="Calibri" pitchFamily="34" charset="-120"/>
              </a:rPr>
              <a:t>Full audit logging with user and timestamp traceability for CNDP compliance.</a:t>
            </a:r>
          </a:p>
          <a:p>
            <a:endParaRPr lang="en-US" sz="750" dirty="0">
              <a:solidFill>
                <a:srgbClr val="475569"/>
              </a:solidFill>
              <a:latin typeface="Calibri" pitchFamily="34" charset="0"/>
              <a:ea typeface="Calibri" pitchFamily="34" charset="-122"/>
              <a:cs typeface="Calibri" pitchFamily="34" charset="-120"/>
            </a:endParaRPr>
          </a:p>
          <a:p>
            <a:r>
              <a:rPr lang="en-US" sz="750" dirty="0">
                <a:solidFill>
                  <a:srgbClr val="475569"/>
                </a:solidFill>
                <a:latin typeface="Calibri" pitchFamily="34" charset="0"/>
                <a:ea typeface="Calibri" pitchFamily="34" charset="-122"/>
                <a:cs typeface="Calibri" pitchFamily="34" charset="-120"/>
              </a:rPr>
              <a:t>Known bottlenecks (serialized LLM inference, absence of semantic patient search) are identified — fallback and model-swap mitigation strategies are defined.</a:t>
            </a:r>
          </a:p>
          <a:p>
            <a:endParaRPr lang="en-US" sz="750" dirty="0">
              <a:solidFill>
                <a:srgbClr val="475569"/>
              </a:solidFill>
              <a:latin typeface="Calibri" pitchFamily="34" charset="0"/>
              <a:ea typeface="Calibri" pitchFamily="34" charset="-122"/>
              <a:cs typeface="Calibri" pitchFamily="34" charset="-120"/>
            </a:endParaRPr>
          </a:p>
          <a:p>
            <a:r>
              <a:rPr lang="en-US" sz="750" dirty="0">
                <a:solidFill>
                  <a:srgbClr val="475569"/>
                </a:solidFill>
                <a:latin typeface="Calibri" pitchFamily="34" charset="0"/>
                <a:ea typeface="Calibri" pitchFamily="34" charset="-122"/>
                <a:cs typeface="Calibri" pitchFamily="34" charset="-120"/>
              </a:rPr>
              <a:t>Platform transitioning to production; database replication and automated backup scheduled before full deployment.</a:t>
            </a:r>
            <a:endParaRPr lang="en-US" sz="750" dirty="0"/>
          </a:p>
          <a:p>
            <a:endParaRPr lang="en-US" sz="750" dirty="0"/>
          </a:p>
          <a:p>
            <a:endParaRPr lang="en-US" sz="750" dirty="0"/>
          </a:p>
          <a:p>
            <a:endParaRPr lang="en-US" sz="750" dirty="0"/>
          </a:p>
          <a:p>
            <a:endParaRPr lang="en-US" sz="750" dirty="0"/>
          </a:p>
          <a:p>
            <a:endParaRPr lang="en-US" sz="750" dirty="0"/>
          </a:p>
          <a:p>
            <a:pPr marL="0" indent="0">
              <a:buNone/>
            </a:pPr>
            <a:endParaRPr lang="en-US" sz="750" dirty="0"/>
          </a:p>
        </p:txBody>
      </p:sp>
      <p:sp>
        <p:nvSpPr>
          <p:cNvPr id="59" name="Text 57"/>
          <p:cNvSpPr/>
          <p:nvPr/>
        </p:nvSpPr>
        <p:spPr>
          <a:xfrm>
            <a:off x="438912" y="10110216"/>
            <a:ext cx="3858768" cy="256032"/>
          </a:xfrm>
          <a:prstGeom prst="rect">
            <a:avLst/>
          </a:prstGeom>
          <a:noFill/>
          <a:ln/>
        </p:spPr>
        <p:txBody>
          <a:bodyPr wrap="square" lIns="0" tIns="0" rIns="0" bIns="0" rtlCol="0" anchor="ctr"/>
          <a:lstStyle/>
          <a:p>
            <a:pPr marL="0" indent="0">
              <a:buNone/>
            </a:pPr>
            <a:endParaRPr lang="en-US" sz="750" dirty="0"/>
          </a:p>
        </p:txBody>
      </p:sp>
      <p:sp>
        <p:nvSpPr>
          <p:cNvPr id="63" name="Text 61"/>
          <p:cNvSpPr/>
          <p:nvPr/>
        </p:nvSpPr>
        <p:spPr>
          <a:xfrm>
            <a:off x="438912" y="10853928"/>
            <a:ext cx="3858768" cy="256032"/>
          </a:xfrm>
          <a:prstGeom prst="rect">
            <a:avLst/>
          </a:prstGeom>
          <a:noFill/>
          <a:ln/>
        </p:spPr>
        <p:txBody>
          <a:bodyPr wrap="square" lIns="0" tIns="0" rIns="0" bIns="0" rtlCol="0" anchor="ctr"/>
          <a:lstStyle/>
          <a:p>
            <a:pPr marL="0" indent="0">
              <a:buNone/>
            </a:pPr>
            <a:endParaRPr lang="en-US" sz="750" dirty="0"/>
          </a:p>
        </p:txBody>
      </p:sp>
      <p:sp>
        <p:nvSpPr>
          <p:cNvPr id="64" name="Shape 62"/>
          <p:cNvSpPr/>
          <p:nvPr/>
        </p:nvSpPr>
        <p:spPr>
          <a:xfrm>
            <a:off x="4672584" y="8659368"/>
            <a:ext cx="4352544" cy="2651760"/>
          </a:xfrm>
          <a:prstGeom prst="rect">
            <a:avLst/>
          </a:prstGeom>
          <a:solidFill>
            <a:srgbClr val="FFFFFF"/>
          </a:solidFill>
          <a:ln w="6350">
            <a:solidFill>
              <a:srgbClr val="E2E8F0"/>
            </a:solidFill>
            <a:prstDash val="solid"/>
          </a:ln>
          <a:effectLst>
            <a:outerShdw blurRad="101600" dist="25400" dir="8100000" algn="bl" rotWithShape="0">
              <a:srgbClr val="000000">
                <a:alpha val="6000"/>
              </a:srgbClr>
            </a:outerShdw>
          </a:effectLst>
        </p:spPr>
        <p:txBody>
          <a:bodyPr/>
          <a:lstStyle/>
          <a:p>
            <a:endParaRPr lang="en-US"/>
          </a:p>
        </p:txBody>
      </p:sp>
      <p:sp>
        <p:nvSpPr>
          <p:cNvPr id="65" name="Shape 63"/>
          <p:cNvSpPr/>
          <p:nvPr/>
        </p:nvSpPr>
        <p:spPr>
          <a:xfrm>
            <a:off x="4800600" y="8833104"/>
            <a:ext cx="45720" cy="201168"/>
          </a:xfrm>
          <a:prstGeom prst="rect">
            <a:avLst/>
          </a:prstGeom>
          <a:solidFill>
            <a:srgbClr val="0D9488"/>
          </a:solidFill>
          <a:ln w="12700">
            <a:solidFill>
              <a:srgbClr val="0D9488"/>
            </a:solidFill>
            <a:prstDash val="solid"/>
          </a:ln>
        </p:spPr>
        <p:txBody>
          <a:bodyPr/>
          <a:lstStyle/>
          <a:p>
            <a:endParaRPr lang="en-US"/>
          </a:p>
        </p:txBody>
      </p:sp>
      <p:sp>
        <p:nvSpPr>
          <p:cNvPr id="66" name="Text 64"/>
          <p:cNvSpPr/>
          <p:nvPr/>
        </p:nvSpPr>
        <p:spPr>
          <a:xfrm>
            <a:off x="4901184" y="8796528"/>
            <a:ext cx="3895344" cy="274320"/>
          </a:xfrm>
          <a:prstGeom prst="rect">
            <a:avLst/>
          </a:prstGeom>
          <a:noFill/>
          <a:ln/>
        </p:spPr>
        <p:txBody>
          <a:bodyPr wrap="square" lIns="0" tIns="0" rIns="0" bIns="0" rtlCol="0" anchor="ctr"/>
          <a:lstStyle/>
          <a:p>
            <a:pPr marL="0" indent="0">
              <a:buNone/>
            </a:pPr>
            <a:r>
              <a:rPr lang="en-US" sz="1200" b="1" kern="0" spc="200" dirty="0">
                <a:solidFill>
                  <a:srgbClr val="0D9488"/>
                </a:solidFill>
                <a:latin typeface="Calibri" pitchFamily="34" charset="0"/>
                <a:ea typeface="Calibri" pitchFamily="34" charset="-122"/>
                <a:cs typeface="Calibri" pitchFamily="34" charset="-120"/>
              </a:rPr>
              <a:t>CONCLUSION &amp; PERSPECTIVES</a:t>
            </a:r>
            <a:endParaRPr lang="en-US" sz="1200" dirty="0"/>
          </a:p>
        </p:txBody>
      </p:sp>
      <p:sp>
        <p:nvSpPr>
          <p:cNvPr id="67" name="Text 65"/>
          <p:cNvSpPr/>
          <p:nvPr/>
        </p:nvSpPr>
        <p:spPr>
          <a:xfrm>
            <a:off x="4809744" y="9290304"/>
            <a:ext cx="3986784" cy="2011680"/>
          </a:xfrm>
          <a:prstGeom prst="rect">
            <a:avLst/>
          </a:prstGeom>
          <a:noFill/>
          <a:ln/>
        </p:spPr>
        <p:txBody>
          <a:bodyPr wrap="square" lIns="0" tIns="0" rIns="0" bIns="0" rtlCol="0" anchor="t"/>
          <a:lstStyle/>
          <a:p>
            <a:pPr marL="0" indent="0" algn="l">
              <a:spcAft>
                <a:spcPts val="200"/>
              </a:spcAft>
              <a:buNone/>
            </a:pPr>
            <a:r>
              <a:rPr lang="en-US" sz="750" dirty="0">
                <a:solidFill>
                  <a:srgbClr val="475569"/>
                </a:solidFill>
                <a:latin typeface="Calibri" pitchFamily="34" charset="0"/>
                <a:ea typeface="Calibri" pitchFamily="34" charset="-122"/>
                <a:cs typeface="Calibri" pitchFamily="34" charset="-120"/>
              </a:rPr>
              <a:t>This work presents the first complete implementation of a locally-governed clinical AI platform that preserves data sovereignty while enabling sophisticated decision support. The bidirectional care coordination model positions AI as a knowledge synthesis layer — not an autonomous authority — maintaining clinical judgment as the primary accountability locus.</a:t>
            </a:r>
            <a:endParaRPr lang="en-US" sz="750" dirty="0"/>
          </a:p>
          <a:p>
            <a:pPr marL="0" indent="0" algn="l">
              <a:spcAft>
                <a:spcPts val="200"/>
              </a:spcAft>
              <a:buNone/>
            </a:pPr>
            <a:endParaRPr lang="en-US" sz="750" dirty="0"/>
          </a:p>
          <a:p>
            <a:pPr marL="0" indent="0" algn="l">
              <a:spcAft>
                <a:spcPts val="200"/>
              </a:spcAft>
              <a:buNone/>
            </a:pPr>
            <a:r>
              <a:rPr lang="en-US" sz="750" dirty="0">
                <a:solidFill>
                  <a:srgbClr val="475569"/>
                </a:solidFill>
                <a:latin typeface="Calibri" pitchFamily="34" charset="0"/>
                <a:ea typeface="Calibri" pitchFamily="34" charset="-122"/>
                <a:cs typeface="Calibri" pitchFamily="34" charset="-120"/>
              </a:rPr>
              <a:t>Demonstrated performance characteristics (50–200 ms retrieval · 2–5 s consultation) establish benchmarks suitable for routine clinical workflows. Comprehensive audit logging and RBAC mechanisms provide institutional compliance verification essential under CNDP frameworks.</a:t>
            </a:r>
            <a:endParaRPr lang="en-US" sz="750" dirty="0"/>
          </a:p>
          <a:p>
            <a:pPr marL="0" indent="0" algn="l">
              <a:spcAft>
                <a:spcPts val="200"/>
              </a:spcAft>
              <a:buNone/>
            </a:pPr>
            <a:endParaRPr lang="en-US" sz="750" dirty="0"/>
          </a:p>
          <a:p>
            <a:pPr marL="0" indent="0" algn="l">
              <a:spcAft>
                <a:spcPts val="200"/>
              </a:spcAft>
              <a:buNone/>
            </a:pPr>
            <a:r>
              <a:rPr lang="en-US" sz="750" dirty="0">
                <a:solidFill>
                  <a:srgbClr val="475569"/>
                </a:solidFill>
                <a:latin typeface="Calibri" pitchFamily="34" charset="0"/>
                <a:ea typeface="Calibri" pitchFamily="34" charset="-122"/>
                <a:cs typeface="Calibri" pitchFamily="34" charset="-120"/>
              </a:rPr>
              <a:t>Future research should examine: comparative effectiveness of local vs. distributed architectures; patient outcomes across coordination models; economic analysis of deployment approaches; and interoperability standards for independent institutional systems.</a:t>
            </a:r>
            <a:endParaRPr lang="en-US" sz="750" dirty="0"/>
          </a:p>
          <a:p>
            <a:pPr marL="0" indent="0" algn="l">
              <a:spcAft>
                <a:spcPts val="200"/>
              </a:spcAft>
              <a:buNone/>
            </a:pPr>
            <a:endParaRPr lang="en-US" sz="750" dirty="0"/>
          </a:p>
          <a:p>
            <a:pPr marL="0" indent="0" algn="l">
              <a:spcAft>
                <a:spcPts val="200"/>
              </a:spcAft>
              <a:buNone/>
            </a:pPr>
            <a:r>
              <a:rPr lang="en-US" sz="750" dirty="0">
                <a:solidFill>
                  <a:srgbClr val="475569"/>
                </a:solidFill>
                <a:latin typeface="Calibri" pitchFamily="34" charset="0"/>
                <a:ea typeface="Calibri" pitchFamily="34" charset="-122"/>
                <a:cs typeface="Calibri" pitchFamily="34" charset="-120"/>
              </a:rPr>
              <a:t>RhumatoAI demonstrates that sophisticated clinical intelligence need not depend on external infrastructure or compromise institutional autonomy.</a:t>
            </a:r>
            <a:endParaRPr lang="en-US" sz="750" dirty="0"/>
          </a:p>
        </p:txBody>
      </p:sp>
      <p:sp>
        <p:nvSpPr>
          <p:cNvPr id="68" name="Shape 66"/>
          <p:cNvSpPr/>
          <p:nvPr/>
        </p:nvSpPr>
        <p:spPr>
          <a:xfrm>
            <a:off x="0" y="11512296"/>
            <a:ext cx="9144000" cy="45720"/>
          </a:xfrm>
          <a:prstGeom prst="rect">
            <a:avLst/>
          </a:prstGeom>
          <a:solidFill>
            <a:srgbClr val="0D9488"/>
          </a:solidFill>
          <a:ln w="12700">
            <a:solidFill>
              <a:srgbClr val="0D9488"/>
            </a:solidFill>
            <a:prstDash val="solid"/>
          </a:ln>
        </p:spPr>
        <p:txBody>
          <a:bodyPr/>
          <a:lstStyle/>
          <a:p>
            <a:endParaRPr lang="en-US"/>
          </a:p>
        </p:txBody>
      </p:sp>
      <p:sp>
        <p:nvSpPr>
          <p:cNvPr id="69" name="Shape 67"/>
          <p:cNvSpPr/>
          <p:nvPr/>
        </p:nvSpPr>
        <p:spPr>
          <a:xfrm>
            <a:off x="0" y="11558016"/>
            <a:ext cx="9144000" cy="1362456"/>
          </a:xfrm>
          <a:prstGeom prst="rect">
            <a:avLst/>
          </a:prstGeom>
          <a:solidFill>
            <a:srgbClr val="0D1B2A"/>
          </a:solidFill>
          <a:ln w="12700">
            <a:solidFill>
              <a:srgbClr val="0D1B2A"/>
            </a:solidFill>
            <a:prstDash val="solid"/>
          </a:ln>
        </p:spPr>
        <p:txBody>
          <a:bodyPr/>
          <a:lstStyle/>
          <a:p>
            <a:endParaRPr lang="en-US"/>
          </a:p>
        </p:txBody>
      </p:sp>
      <p:sp>
        <p:nvSpPr>
          <p:cNvPr id="71" name="Text 69"/>
          <p:cNvSpPr/>
          <p:nvPr/>
        </p:nvSpPr>
        <p:spPr>
          <a:xfrm>
            <a:off x="219456" y="12161520"/>
            <a:ext cx="8595360" cy="347472"/>
          </a:xfrm>
          <a:prstGeom prst="rect">
            <a:avLst/>
          </a:prstGeom>
          <a:noFill/>
          <a:ln/>
        </p:spPr>
        <p:txBody>
          <a:bodyPr wrap="square" lIns="0" tIns="0" rIns="0" bIns="0" rtlCol="0" anchor="ctr"/>
          <a:lstStyle/>
          <a:p>
            <a:pPr>
              <a:lnSpc>
                <a:spcPct val="150000"/>
              </a:lnSpc>
            </a:pPr>
            <a:r>
              <a:rPr lang="en-US" sz="800" dirty="0">
                <a:solidFill>
                  <a:schemeClr val="bg1"/>
                </a:solidFill>
              </a:rPr>
              <a:t>Chen YM, Hsiao TH, Lin CH, Fann YC. Unlocking precision medicine: clinical applications of integrating health records, genetics, and immunology through artificial intelligence. J Biomed Sci. 2025 Feb 7.</a:t>
            </a:r>
          </a:p>
          <a:p>
            <a:pPr>
              <a:lnSpc>
                <a:spcPct val="150000"/>
              </a:lnSpc>
            </a:pPr>
            <a:r>
              <a:rPr lang="en-US" sz="800" dirty="0" err="1">
                <a:solidFill>
                  <a:schemeClr val="bg1"/>
                </a:solidFill>
              </a:rPr>
              <a:t>Hügle</a:t>
            </a:r>
            <a:r>
              <a:rPr lang="en-US" sz="800" dirty="0">
                <a:solidFill>
                  <a:schemeClr val="bg1"/>
                </a:solidFill>
              </a:rPr>
              <a:t> T. Advancing rheumatology care through machine learning. Pharm Med. 2024 Mar.</a:t>
            </a:r>
          </a:p>
          <a:p>
            <a:pPr>
              <a:lnSpc>
                <a:spcPct val="150000"/>
              </a:lnSpc>
            </a:pPr>
            <a:r>
              <a:rPr lang="en-US" sz="800" dirty="0" err="1">
                <a:solidFill>
                  <a:schemeClr val="bg1"/>
                </a:solidFill>
              </a:rPr>
              <a:t>Knitza</a:t>
            </a:r>
            <a:r>
              <a:rPr lang="en-US" sz="800" dirty="0">
                <a:solidFill>
                  <a:schemeClr val="bg1"/>
                </a:solidFill>
              </a:rPr>
              <a:t> J, Gupta L, </a:t>
            </a:r>
            <a:r>
              <a:rPr lang="en-US" sz="800" dirty="0" err="1">
                <a:solidFill>
                  <a:schemeClr val="bg1"/>
                </a:solidFill>
              </a:rPr>
              <a:t>Hügle</a:t>
            </a:r>
            <a:r>
              <a:rPr lang="en-US" sz="800" dirty="0">
                <a:solidFill>
                  <a:schemeClr val="bg1"/>
                </a:solidFill>
              </a:rPr>
              <a:t> T. Rheumatology in the digital health era: status quo and quo </a:t>
            </a:r>
            <a:r>
              <a:rPr lang="en-US" sz="800" dirty="0" err="1">
                <a:solidFill>
                  <a:schemeClr val="bg1"/>
                </a:solidFill>
              </a:rPr>
              <a:t>vadis</a:t>
            </a:r>
            <a:r>
              <a:rPr lang="en-US" sz="800" dirty="0">
                <a:solidFill>
                  <a:schemeClr val="bg1"/>
                </a:solidFill>
              </a:rPr>
              <a:t>? Nat Rev </a:t>
            </a:r>
            <a:r>
              <a:rPr lang="en-US" sz="800" dirty="0" err="1">
                <a:solidFill>
                  <a:schemeClr val="bg1"/>
                </a:solidFill>
              </a:rPr>
              <a:t>Rheumatol</a:t>
            </a:r>
            <a:r>
              <a:rPr lang="en-US" sz="800" dirty="0">
                <a:solidFill>
                  <a:schemeClr val="bg1"/>
                </a:solidFill>
              </a:rPr>
              <a:t>. 2024 Dec 20.</a:t>
            </a:r>
          </a:p>
          <a:p>
            <a:pPr>
              <a:lnSpc>
                <a:spcPct val="150000"/>
              </a:lnSpc>
            </a:pPr>
            <a:r>
              <a:rPr lang="en-US" sz="800" dirty="0">
                <a:solidFill>
                  <a:schemeClr val="bg1"/>
                </a:solidFill>
              </a:rPr>
              <a:t>Kunal </a:t>
            </a:r>
            <a:r>
              <a:rPr lang="en-US" sz="800" dirty="0" err="1">
                <a:solidFill>
                  <a:schemeClr val="bg1"/>
                </a:solidFill>
              </a:rPr>
              <a:t>Chandwar</a:t>
            </a:r>
            <a:r>
              <a:rPr lang="en-US" sz="800" dirty="0">
                <a:solidFill>
                  <a:schemeClr val="bg1"/>
                </a:solidFill>
              </a:rPr>
              <a:t>, Misra DP. What does artificial intelligence mean in rheumatology? Arch </a:t>
            </a:r>
            <a:r>
              <a:rPr lang="en-US" sz="800" dirty="0" err="1">
                <a:solidFill>
                  <a:schemeClr val="bg1"/>
                </a:solidFill>
              </a:rPr>
              <a:t>Rheumatol</a:t>
            </a:r>
            <a:r>
              <a:rPr lang="en-US" sz="800" dirty="0">
                <a:solidFill>
                  <a:schemeClr val="bg1"/>
                </a:solidFill>
              </a:rPr>
              <a:t>. 2024 Mar).</a:t>
            </a:r>
          </a:p>
          <a:p>
            <a:pPr>
              <a:lnSpc>
                <a:spcPct val="150000"/>
              </a:lnSpc>
            </a:pPr>
            <a:r>
              <a:rPr lang="en-US" sz="800" dirty="0" err="1">
                <a:solidFill>
                  <a:schemeClr val="bg1"/>
                </a:solidFill>
              </a:rPr>
              <a:t>Sequé</a:t>
            </a:r>
            <a:r>
              <a:rPr lang="en-US" sz="800" dirty="0">
                <a:solidFill>
                  <a:schemeClr val="bg1"/>
                </a:solidFill>
              </a:rPr>
              <a:t>-Sabater JM, </a:t>
            </a:r>
            <a:r>
              <a:rPr lang="en-US" sz="800" dirty="0" err="1">
                <a:solidFill>
                  <a:schemeClr val="bg1"/>
                </a:solidFill>
              </a:rPr>
              <a:t>Benavent</a:t>
            </a:r>
            <a:r>
              <a:rPr lang="en-US" sz="800" dirty="0">
                <a:solidFill>
                  <a:schemeClr val="bg1"/>
                </a:solidFill>
              </a:rPr>
              <a:t> D. Artificial intelligence in rheumatology research: what is it good for? RMD Open. 2025.</a:t>
            </a:r>
          </a:p>
        </p:txBody>
      </p:sp>
      <p:sp>
        <p:nvSpPr>
          <p:cNvPr id="72" name="Text 47">
            <a:extLst>
              <a:ext uri="{FF2B5EF4-FFF2-40B4-BE49-F238E27FC236}">
                <a16:creationId xmlns:a16="http://schemas.microsoft.com/office/drawing/2014/main" id="{3C5F6676-DDDC-0F31-872F-CB23CD41653D}"/>
              </a:ext>
            </a:extLst>
          </p:cNvPr>
          <p:cNvSpPr/>
          <p:nvPr/>
        </p:nvSpPr>
        <p:spPr>
          <a:xfrm>
            <a:off x="274320" y="11612880"/>
            <a:ext cx="3895344" cy="274320"/>
          </a:xfrm>
          <a:prstGeom prst="rect">
            <a:avLst/>
          </a:prstGeom>
          <a:noFill/>
          <a:ln/>
        </p:spPr>
        <p:txBody>
          <a:bodyPr wrap="square" lIns="0" tIns="0" rIns="0" bIns="0" rtlCol="0" anchor="ctr"/>
          <a:lstStyle/>
          <a:p>
            <a:pPr marL="0" indent="0">
              <a:buNone/>
            </a:pPr>
            <a:r>
              <a:rPr lang="en-US" sz="1200" b="1" kern="0" spc="200" dirty="0">
                <a:solidFill>
                  <a:srgbClr val="0D9488"/>
                </a:solidFill>
                <a:latin typeface="Calibri" pitchFamily="34" charset="0"/>
                <a:ea typeface="Calibri" pitchFamily="34" charset="-122"/>
                <a:cs typeface="Calibri" pitchFamily="34" charset="-120"/>
              </a:rPr>
              <a:t>REFERENCES</a:t>
            </a:r>
            <a:endParaRPr lang="en-US" sz="900" dirty="0"/>
          </a:p>
        </p:txBody>
      </p:sp>
      <p:sp>
        <p:nvSpPr>
          <p:cNvPr id="73" name="Shape 46">
            <a:extLst>
              <a:ext uri="{FF2B5EF4-FFF2-40B4-BE49-F238E27FC236}">
                <a16:creationId xmlns:a16="http://schemas.microsoft.com/office/drawing/2014/main" id="{7FA42CAF-271E-1D1E-F241-4B903816BAF6}"/>
              </a:ext>
            </a:extLst>
          </p:cNvPr>
          <p:cNvSpPr/>
          <p:nvPr/>
        </p:nvSpPr>
        <p:spPr>
          <a:xfrm>
            <a:off x="159173" y="11649456"/>
            <a:ext cx="45720" cy="201168"/>
          </a:xfrm>
          <a:prstGeom prst="rect">
            <a:avLst/>
          </a:prstGeom>
          <a:solidFill>
            <a:srgbClr val="0D9488"/>
          </a:solidFill>
          <a:ln w="12700">
            <a:solidFill>
              <a:srgbClr val="0D9488"/>
            </a:solidFill>
            <a:prstDash val="solid"/>
          </a:ln>
        </p:spPr>
        <p:txBody>
          <a:bodyPr/>
          <a:lstStyle/>
          <a:p>
            <a:endParaRPr lang="en-US"/>
          </a:p>
        </p:txBody>
      </p:sp>
      <p:pic>
        <p:nvPicPr>
          <p:cNvPr id="78" name="Image 77">
            <a:extLst>
              <a:ext uri="{FF2B5EF4-FFF2-40B4-BE49-F238E27FC236}">
                <a16:creationId xmlns:a16="http://schemas.microsoft.com/office/drawing/2014/main" id="{16008BEF-42F7-8A1C-6D3D-0CE34A849B64}"/>
              </a:ext>
            </a:extLst>
          </p:cNvPr>
          <p:cNvPicPr>
            <a:picLocks noChangeAspect="1"/>
          </p:cNvPicPr>
          <p:nvPr/>
        </p:nvPicPr>
        <p:blipFill>
          <a:blip r:embed="rId3"/>
          <a:stretch>
            <a:fillRect/>
          </a:stretch>
        </p:blipFill>
        <p:spPr>
          <a:xfrm>
            <a:off x="355231" y="7401940"/>
            <a:ext cx="4026130" cy="952628"/>
          </a:xfrm>
          <a:prstGeom prst="rect">
            <a:avLst/>
          </a:prstGeom>
        </p:spPr>
      </p:pic>
      <p:sp>
        <p:nvSpPr>
          <p:cNvPr id="79" name="Shape 19">
            <a:extLst>
              <a:ext uri="{FF2B5EF4-FFF2-40B4-BE49-F238E27FC236}">
                <a16:creationId xmlns:a16="http://schemas.microsoft.com/office/drawing/2014/main" id="{25C4FB41-1CA0-E353-DE12-F3D185E59677}"/>
              </a:ext>
            </a:extLst>
          </p:cNvPr>
          <p:cNvSpPr/>
          <p:nvPr/>
        </p:nvSpPr>
        <p:spPr>
          <a:xfrm>
            <a:off x="320040" y="9400032"/>
            <a:ext cx="73152" cy="73152"/>
          </a:xfrm>
          <a:prstGeom prst="ellipse">
            <a:avLst/>
          </a:prstGeom>
          <a:solidFill>
            <a:srgbClr val="0D9488"/>
          </a:solidFill>
          <a:ln w="12700">
            <a:solidFill>
              <a:srgbClr val="0D9488"/>
            </a:solidFill>
            <a:prstDash val="solid"/>
          </a:ln>
        </p:spPr>
        <p:txBody>
          <a:bodyPr/>
          <a:lstStyle/>
          <a:p>
            <a:endParaRPr lang="en-US"/>
          </a:p>
        </p:txBody>
      </p:sp>
      <p:sp>
        <p:nvSpPr>
          <p:cNvPr id="80" name="Shape 19">
            <a:extLst>
              <a:ext uri="{FF2B5EF4-FFF2-40B4-BE49-F238E27FC236}">
                <a16:creationId xmlns:a16="http://schemas.microsoft.com/office/drawing/2014/main" id="{EC565790-5518-38D9-1B25-FB073E7294AC}"/>
              </a:ext>
            </a:extLst>
          </p:cNvPr>
          <p:cNvSpPr/>
          <p:nvPr/>
        </p:nvSpPr>
        <p:spPr>
          <a:xfrm>
            <a:off x="320040" y="9637776"/>
            <a:ext cx="73152" cy="73152"/>
          </a:xfrm>
          <a:prstGeom prst="ellipse">
            <a:avLst/>
          </a:prstGeom>
          <a:solidFill>
            <a:srgbClr val="0D9488"/>
          </a:solidFill>
          <a:ln w="12700">
            <a:solidFill>
              <a:srgbClr val="0D9488"/>
            </a:solidFill>
            <a:prstDash val="solid"/>
          </a:ln>
        </p:spPr>
        <p:txBody>
          <a:bodyPr/>
          <a:lstStyle/>
          <a:p>
            <a:endParaRPr lang="en-US"/>
          </a:p>
        </p:txBody>
      </p:sp>
      <p:sp>
        <p:nvSpPr>
          <p:cNvPr id="81" name="Shape 19">
            <a:extLst>
              <a:ext uri="{FF2B5EF4-FFF2-40B4-BE49-F238E27FC236}">
                <a16:creationId xmlns:a16="http://schemas.microsoft.com/office/drawing/2014/main" id="{E50D60C3-CEA3-AEB0-7943-AA016DF87E67}"/>
              </a:ext>
            </a:extLst>
          </p:cNvPr>
          <p:cNvSpPr/>
          <p:nvPr/>
        </p:nvSpPr>
        <p:spPr>
          <a:xfrm>
            <a:off x="321564" y="9857232"/>
            <a:ext cx="73152" cy="73152"/>
          </a:xfrm>
          <a:prstGeom prst="ellipse">
            <a:avLst/>
          </a:prstGeom>
          <a:solidFill>
            <a:srgbClr val="0D9488"/>
          </a:solidFill>
          <a:ln w="12700">
            <a:solidFill>
              <a:srgbClr val="0D9488"/>
            </a:solidFill>
            <a:prstDash val="solid"/>
          </a:ln>
        </p:spPr>
        <p:txBody>
          <a:bodyPr/>
          <a:lstStyle/>
          <a:p>
            <a:endParaRPr lang="en-US"/>
          </a:p>
        </p:txBody>
      </p:sp>
      <p:sp>
        <p:nvSpPr>
          <p:cNvPr id="82" name="Shape 19">
            <a:extLst>
              <a:ext uri="{FF2B5EF4-FFF2-40B4-BE49-F238E27FC236}">
                <a16:creationId xmlns:a16="http://schemas.microsoft.com/office/drawing/2014/main" id="{A028A132-D108-6DCD-958D-E7EF79BA649A}"/>
              </a:ext>
            </a:extLst>
          </p:cNvPr>
          <p:cNvSpPr/>
          <p:nvPr/>
        </p:nvSpPr>
        <p:spPr>
          <a:xfrm>
            <a:off x="315468" y="10093452"/>
            <a:ext cx="73152" cy="73152"/>
          </a:xfrm>
          <a:prstGeom prst="ellipse">
            <a:avLst/>
          </a:prstGeom>
          <a:solidFill>
            <a:srgbClr val="0D9488"/>
          </a:solidFill>
          <a:ln w="12700">
            <a:solidFill>
              <a:srgbClr val="0D9488"/>
            </a:solidFill>
            <a:prstDash val="solid"/>
          </a:ln>
        </p:spPr>
        <p:txBody>
          <a:bodyPr/>
          <a:lstStyle/>
          <a:p>
            <a:endParaRPr lang="en-US"/>
          </a:p>
        </p:txBody>
      </p:sp>
      <p:sp>
        <p:nvSpPr>
          <p:cNvPr id="83" name="Shape 19">
            <a:extLst>
              <a:ext uri="{FF2B5EF4-FFF2-40B4-BE49-F238E27FC236}">
                <a16:creationId xmlns:a16="http://schemas.microsoft.com/office/drawing/2014/main" id="{05508166-E596-F35B-E8B1-517BE7C94856}"/>
              </a:ext>
            </a:extLst>
          </p:cNvPr>
          <p:cNvSpPr/>
          <p:nvPr/>
        </p:nvSpPr>
        <p:spPr>
          <a:xfrm>
            <a:off x="315468" y="10300588"/>
            <a:ext cx="73152" cy="73152"/>
          </a:xfrm>
          <a:prstGeom prst="ellipse">
            <a:avLst/>
          </a:prstGeom>
          <a:solidFill>
            <a:srgbClr val="0D9488"/>
          </a:solidFill>
          <a:ln w="12700">
            <a:solidFill>
              <a:srgbClr val="0D9488"/>
            </a:solidFill>
            <a:prstDash val="solid"/>
          </a:ln>
        </p:spPr>
        <p:txBody>
          <a:bodyPr/>
          <a:lstStyle/>
          <a:p>
            <a:endParaRPr lang="en-US"/>
          </a:p>
        </p:txBody>
      </p:sp>
      <p:sp>
        <p:nvSpPr>
          <p:cNvPr id="84" name="Shape 19">
            <a:extLst>
              <a:ext uri="{FF2B5EF4-FFF2-40B4-BE49-F238E27FC236}">
                <a16:creationId xmlns:a16="http://schemas.microsoft.com/office/drawing/2014/main" id="{2D716D8C-5E73-2895-4797-212027DEA504}"/>
              </a:ext>
            </a:extLst>
          </p:cNvPr>
          <p:cNvSpPr/>
          <p:nvPr/>
        </p:nvSpPr>
        <p:spPr>
          <a:xfrm>
            <a:off x="310896" y="10544428"/>
            <a:ext cx="73152" cy="73152"/>
          </a:xfrm>
          <a:prstGeom prst="ellipse">
            <a:avLst/>
          </a:prstGeom>
          <a:solidFill>
            <a:srgbClr val="0D9488"/>
          </a:solidFill>
          <a:ln w="12700">
            <a:solidFill>
              <a:srgbClr val="0D9488"/>
            </a:solidFill>
            <a:prstDash val="solid"/>
          </a:ln>
        </p:spPr>
        <p:txBody>
          <a:bodyPr/>
          <a:lstStyle/>
          <a:p>
            <a:endParaRPr lang="en-US"/>
          </a:p>
        </p:txBody>
      </p:sp>
      <p:sp>
        <p:nvSpPr>
          <p:cNvPr id="85" name="Shape 19">
            <a:extLst>
              <a:ext uri="{FF2B5EF4-FFF2-40B4-BE49-F238E27FC236}">
                <a16:creationId xmlns:a16="http://schemas.microsoft.com/office/drawing/2014/main" id="{3F0CCA30-75BC-7848-3A26-917ED02AC5E7}"/>
              </a:ext>
            </a:extLst>
          </p:cNvPr>
          <p:cNvSpPr/>
          <p:nvPr/>
        </p:nvSpPr>
        <p:spPr>
          <a:xfrm>
            <a:off x="310896" y="10894820"/>
            <a:ext cx="73152" cy="73152"/>
          </a:xfrm>
          <a:prstGeom prst="ellipse">
            <a:avLst/>
          </a:prstGeom>
          <a:solidFill>
            <a:srgbClr val="0D9488"/>
          </a:solidFill>
          <a:ln w="12700">
            <a:solidFill>
              <a:srgbClr val="0D9488"/>
            </a:solidFill>
            <a:prstDash val="solid"/>
          </a:ln>
        </p:spPr>
        <p:txBody>
          <a:bodyPr/>
          <a:lstStyle/>
          <a:p>
            <a:endParaRPr lang="en-US"/>
          </a:p>
        </p:txBody>
      </p:sp>
      <p:pic>
        <p:nvPicPr>
          <p:cNvPr id="89" name="Image 88">
            <a:extLst>
              <a:ext uri="{FF2B5EF4-FFF2-40B4-BE49-F238E27FC236}">
                <a16:creationId xmlns:a16="http://schemas.microsoft.com/office/drawing/2014/main" id="{63DC4CDE-3EF7-F59C-65CB-4EF2AE38FBA7}"/>
              </a:ext>
            </a:extLst>
          </p:cNvPr>
          <p:cNvPicPr>
            <a:picLocks noChangeAspect="1"/>
          </p:cNvPicPr>
          <p:nvPr/>
        </p:nvPicPr>
        <p:blipFill>
          <a:blip r:embed="rId4"/>
          <a:stretch>
            <a:fillRect/>
          </a:stretch>
        </p:blipFill>
        <p:spPr>
          <a:xfrm>
            <a:off x="4764024" y="7429909"/>
            <a:ext cx="4050792" cy="831285"/>
          </a:xfrm>
          <a:prstGeom prst="rect">
            <a:avLst/>
          </a:prstGeom>
        </p:spPr>
      </p:pic>
      <p:pic>
        <p:nvPicPr>
          <p:cNvPr id="91" name="Image 90">
            <a:extLst>
              <a:ext uri="{FF2B5EF4-FFF2-40B4-BE49-F238E27FC236}">
                <a16:creationId xmlns:a16="http://schemas.microsoft.com/office/drawing/2014/main" id="{81EEA279-71E4-609D-3C1F-2AD58BAB33F6}"/>
              </a:ext>
            </a:extLst>
          </p:cNvPr>
          <p:cNvPicPr>
            <a:picLocks noChangeAspect="1"/>
          </p:cNvPicPr>
          <p:nvPr/>
        </p:nvPicPr>
        <p:blipFill>
          <a:blip r:embed="rId5"/>
          <a:stretch>
            <a:fillRect/>
          </a:stretch>
        </p:blipFill>
        <p:spPr>
          <a:xfrm>
            <a:off x="1050014" y="7751285"/>
            <a:ext cx="381117" cy="176563"/>
          </a:xfrm>
          <a:prstGeom prst="rect">
            <a:avLst/>
          </a:prstGeom>
        </p:spPr>
      </p:pic>
      <p:pic>
        <p:nvPicPr>
          <p:cNvPr id="53" name="Image 52">
            <a:extLst>
              <a:ext uri="{FF2B5EF4-FFF2-40B4-BE49-F238E27FC236}">
                <a16:creationId xmlns:a16="http://schemas.microsoft.com/office/drawing/2014/main" id="{665A90B1-7248-9ADF-F3D2-D69773E22B50}"/>
              </a:ext>
            </a:extLst>
          </p:cNvPr>
          <p:cNvPicPr>
            <a:picLocks noChangeAspect="1"/>
          </p:cNvPicPr>
          <p:nvPr/>
        </p:nvPicPr>
        <p:blipFill>
          <a:blip r:embed="rId6"/>
          <a:stretch>
            <a:fillRect/>
          </a:stretch>
        </p:blipFill>
        <p:spPr>
          <a:xfrm>
            <a:off x="6568593" y="25462"/>
            <a:ext cx="786167" cy="744158"/>
          </a:xfrm>
          <a:prstGeom prst="rect">
            <a:avLst/>
          </a:prstGeom>
        </p:spPr>
      </p:pic>
      <p:pic>
        <p:nvPicPr>
          <p:cNvPr id="57" name="Image 56">
            <a:extLst>
              <a:ext uri="{FF2B5EF4-FFF2-40B4-BE49-F238E27FC236}">
                <a16:creationId xmlns:a16="http://schemas.microsoft.com/office/drawing/2014/main" id="{A45EF8EF-28E1-4515-EBC9-111A2A73B202}"/>
              </a:ext>
            </a:extLst>
          </p:cNvPr>
          <p:cNvPicPr>
            <a:picLocks noChangeAspect="1"/>
          </p:cNvPicPr>
          <p:nvPr/>
        </p:nvPicPr>
        <p:blipFill>
          <a:blip r:embed="rId7"/>
          <a:stretch>
            <a:fillRect/>
          </a:stretch>
        </p:blipFill>
        <p:spPr>
          <a:xfrm>
            <a:off x="-46736" y="-81521"/>
            <a:ext cx="1651508" cy="844221"/>
          </a:xfrm>
          <a:prstGeom prst="rect">
            <a:avLst/>
          </a:prstGeom>
        </p:spPr>
      </p:pic>
      <p:pic>
        <p:nvPicPr>
          <p:cNvPr id="70" name="Image 69">
            <a:extLst>
              <a:ext uri="{FF2B5EF4-FFF2-40B4-BE49-F238E27FC236}">
                <a16:creationId xmlns:a16="http://schemas.microsoft.com/office/drawing/2014/main" id="{112B5394-5054-979D-713C-A04EF93A748C}"/>
              </a:ext>
            </a:extLst>
          </p:cNvPr>
          <p:cNvPicPr>
            <a:picLocks noChangeAspect="1"/>
          </p:cNvPicPr>
          <p:nvPr/>
        </p:nvPicPr>
        <p:blipFill>
          <a:blip r:embed="rId8"/>
          <a:stretch>
            <a:fillRect/>
          </a:stretch>
        </p:blipFill>
        <p:spPr>
          <a:xfrm>
            <a:off x="7531004" y="9549"/>
            <a:ext cx="1494124" cy="735497"/>
          </a:xfrm>
          <a:prstGeom prst="rect">
            <a:avLst/>
          </a:prstGeom>
        </p:spPr>
      </p:pic>
      <p:pic>
        <p:nvPicPr>
          <p:cNvPr id="55" name="Image 54">
            <a:extLst>
              <a:ext uri="{FF2B5EF4-FFF2-40B4-BE49-F238E27FC236}">
                <a16:creationId xmlns:a16="http://schemas.microsoft.com/office/drawing/2014/main" id="{8D0B0727-17A0-6B8D-88FA-AAD8C200831B}"/>
              </a:ext>
            </a:extLst>
          </p:cNvPr>
          <p:cNvPicPr>
            <a:picLocks noChangeAspect="1"/>
          </p:cNvPicPr>
          <p:nvPr/>
        </p:nvPicPr>
        <p:blipFill>
          <a:blip r:embed="rId9"/>
          <a:stretch>
            <a:fillRect/>
          </a:stretch>
        </p:blipFill>
        <p:spPr>
          <a:xfrm>
            <a:off x="1483441" y="162647"/>
            <a:ext cx="1560256" cy="42256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901</TotalTime>
  <Words>938</Words>
  <Application>Microsoft Office PowerPoint</Application>
  <PresentationFormat>Personnalisé</PresentationFormat>
  <Paragraphs>72</Paragraphs>
  <Slides>1</Slides>
  <Notes>1</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1</vt:i4>
      </vt:variant>
    </vt:vector>
  </HeadingPairs>
  <TitlesOfParts>
    <vt:vector size="4" baseType="lpstr">
      <vt:lpstr>Arial</vt:lpstr>
      <vt:lpstr>Calibri</vt:lpstr>
      <vt:lpstr>Office Theme</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Ismail BAKRAOUI</cp:lastModifiedBy>
  <cp:revision>6</cp:revision>
  <dcterms:created xsi:type="dcterms:W3CDTF">2026-04-13T20:50:02Z</dcterms:created>
  <dcterms:modified xsi:type="dcterms:W3CDTF">2026-04-14T13:43:31Z</dcterms:modified>
</cp:coreProperties>
</file>