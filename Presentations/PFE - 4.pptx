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</p:sldIdLst>
  <p:sldSz cx="18288000" cy="10287000"/>
  <p:notesSz cx="6858000" cy="9144000"/>
  <p:embeddedFontLst>
    <p:embeddedFont>
      <p:font typeface="Poppins Bold" charset="1" panose="00000800000000000000"/>
      <p:regular r:id="rId19"/>
    </p:embeddedFont>
    <p:embeddedFont>
      <p:font typeface="Open Sans" charset="1" panose="020B0606030504020204"/>
      <p:regular r:id="rId20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fonts/font19.fntdata" Type="http://schemas.openxmlformats.org/officeDocument/2006/relationships/font"/><Relationship Id="rId2" Target="presProps.xml" Type="http://schemas.openxmlformats.org/officeDocument/2006/relationships/presProps"/><Relationship Id="rId20" Target="fonts/font20.fntdata" Type="http://schemas.openxmlformats.org/officeDocument/2006/relationships/font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media/image3.png" Type="http://schemas.openxmlformats.org/officeDocument/2006/relationships/image"/><Relationship Id="rId5" Target="../media/image4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media/image3.png" Type="http://schemas.openxmlformats.org/officeDocument/2006/relationships/image"/><Relationship Id="rId5" Target="../media/image4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5363236" y="889854"/>
            <a:ext cx="7272618" cy="1600265"/>
          </a:xfrm>
          <a:custGeom>
            <a:avLst/>
            <a:gdLst/>
            <a:ahLst/>
            <a:cxnLst/>
            <a:rect r="r" b="b" t="t" l="l"/>
            <a:pathLst>
              <a:path h="1600265" w="7272618">
                <a:moveTo>
                  <a:pt x="0" y="0"/>
                </a:moveTo>
                <a:lnTo>
                  <a:pt x="7272618" y="0"/>
                </a:lnTo>
                <a:lnTo>
                  <a:pt x="7272618" y="1600265"/>
                </a:lnTo>
                <a:lnTo>
                  <a:pt x="0" y="160026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-317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674092">
            <a:off x="-5622347" y="7621432"/>
            <a:ext cx="19149891" cy="6989710"/>
          </a:xfrm>
          <a:custGeom>
            <a:avLst/>
            <a:gdLst/>
            <a:ahLst/>
            <a:cxnLst/>
            <a:rect r="r" b="b" t="t" l="l"/>
            <a:pathLst>
              <a:path h="6989710" w="19149891">
                <a:moveTo>
                  <a:pt x="0" y="0"/>
                </a:moveTo>
                <a:lnTo>
                  <a:pt x="19149891" y="0"/>
                </a:lnTo>
                <a:lnTo>
                  <a:pt x="19149891" y="6989710"/>
                </a:lnTo>
                <a:lnTo>
                  <a:pt x="0" y="698971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80000"/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true" flipV="true" rot="828919">
            <a:off x="6424126" y="-4031537"/>
            <a:ext cx="19149891" cy="6989710"/>
          </a:xfrm>
          <a:custGeom>
            <a:avLst/>
            <a:gdLst/>
            <a:ahLst/>
            <a:cxnLst/>
            <a:rect r="r" b="b" t="t" l="l"/>
            <a:pathLst>
              <a:path h="6989710" w="19149891">
                <a:moveTo>
                  <a:pt x="19149891" y="6989710"/>
                </a:moveTo>
                <a:lnTo>
                  <a:pt x="0" y="6989710"/>
                </a:lnTo>
                <a:lnTo>
                  <a:pt x="0" y="0"/>
                </a:lnTo>
                <a:lnTo>
                  <a:pt x="19149891" y="0"/>
                </a:lnTo>
                <a:lnTo>
                  <a:pt x="19149891" y="6989710"/>
                </a:lnTo>
                <a:close/>
              </a:path>
            </a:pathLst>
          </a:custGeom>
          <a:blipFill>
            <a:blip r:embed="rId3">
              <a:alphaModFix amt="43000"/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028700" y="2545780"/>
            <a:ext cx="3141784" cy="1332950"/>
          </a:xfrm>
          <a:custGeom>
            <a:avLst/>
            <a:gdLst/>
            <a:ahLst/>
            <a:cxnLst/>
            <a:rect r="r" b="b" t="t" l="l"/>
            <a:pathLst>
              <a:path h="1332950" w="3141784">
                <a:moveTo>
                  <a:pt x="0" y="0"/>
                </a:moveTo>
                <a:lnTo>
                  <a:pt x="3141784" y="0"/>
                </a:lnTo>
                <a:lnTo>
                  <a:pt x="3141784" y="1332950"/>
                </a:lnTo>
                <a:lnTo>
                  <a:pt x="0" y="133295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10338" t="-9825" r="-9900" b="-14738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3483407" y="2490119"/>
            <a:ext cx="3775893" cy="1444272"/>
          </a:xfrm>
          <a:custGeom>
            <a:avLst/>
            <a:gdLst/>
            <a:ahLst/>
            <a:cxnLst/>
            <a:rect r="r" b="b" t="t" l="l"/>
            <a:pathLst>
              <a:path h="1444272" w="3775893">
                <a:moveTo>
                  <a:pt x="0" y="0"/>
                </a:moveTo>
                <a:lnTo>
                  <a:pt x="3775893" y="0"/>
                </a:lnTo>
                <a:lnTo>
                  <a:pt x="3775893" y="1444272"/>
                </a:lnTo>
                <a:lnTo>
                  <a:pt x="0" y="1444272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-4575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757388" y="9419911"/>
            <a:ext cx="5109189" cy="44133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99"/>
              </a:lnSpc>
            </a:pPr>
            <a:r>
              <a:rPr lang="en-US" sz="2499" b="true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11 March 2025 - 4</a:t>
            </a:r>
            <a:r>
              <a:rPr lang="en-US" sz="2499" b="true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th</a:t>
            </a:r>
            <a:r>
              <a:rPr lang="en-US" sz="2499" b="true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 Meeting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2045650" y="4531942"/>
            <a:ext cx="14196700" cy="104775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199"/>
              </a:lnSpc>
            </a:pPr>
            <a:r>
              <a:rPr lang="en-US" sz="2999" b="true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Artificial Intelligence for Patient Management </a:t>
            </a:r>
          </a:p>
          <a:p>
            <a:pPr algn="ctr">
              <a:lnSpc>
                <a:spcPts val="4199"/>
              </a:lnSpc>
            </a:pPr>
            <a:r>
              <a:rPr lang="en-US" sz="2999" b="true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and Clinical Research in Rheumatology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2045650" y="5765754"/>
            <a:ext cx="14196700" cy="7988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219"/>
              </a:lnSpc>
            </a:pPr>
            <a:r>
              <a:rPr lang="en-US" sz="2299" b="true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Developed by:</a:t>
            </a:r>
          </a:p>
          <a:p>
            <a:pPr algn="ctr">
              <a:lnSpc>
                <a:spcPts val="3219"/>
              </a:lnSpc>
            </a:pPr>
            <a:r>
              <a:rPr lang="en-US" sz="2299" b="true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Mr. Ismail Bakraoui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2045650" y="6803387"/>
            <a:ext cx="14196700" cy="7988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219"/>
              </a:lnSpc>
            </a:pPr>
            <a:r>
              <a:rPr lang="en-US" sz="2299" b="true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Under the supervision of :</a:t>
            </a:r>
          </a:p>
          <a:p>
            <a:pPr algn="ctr">
              <a:lnSpc>
                <a:spcPts val="3219"/>
              </a:lnSpc>
            </a:pPr>
            <a:r>
              <a:rPr lang="en-US" sz="2299" b="true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Dr. Housbane Samy and Dr. Ajbal Khaoula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4354813" y="9419911"/>
            <a:ext cx="3446430" cy="44133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99"/>
              </a:lnSpc>
            </a:pPr>
            <a:r>
              <a:rPr lang="en-US" sz="2499" b="true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EMSI - FMPC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426027" y="1354361"/>
            <a:ext cx="15435946" cy="14319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5600"/>
              </a:lnSpc>
              <a:spcBef>
                <a:spcPct val="0"/>
              </a:spcBef>
            </a:pPr>
            <a:r>
              <a:rPr lang="en-US" b="true" sz="4000" spc="-80">
                <a:solidFill>
                  <a:srgbClr val="191919"/>
                </a:solidFill>
                <a:latin typeface="Poppins Bold"/>
                <a:ea typeface="Poppins Bold"/>
                <a:cs typeface="Poppins Bold"/>
                <a:sym typeface="Poppins Bold"/>
              </a:rPr>
              <a:t>Security layer, hardware discussion and conference organization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17259300" y="9210675"/>
            <a:ext cx="152400" cy="200025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191919"/>
                </a:solidFill>
                <a:latin typeface="Open Sans"/>
                <a:ea typeface="Open Sans"/>
                <a:cs typeface="Open Sans"/>
                <a:sym typeface="Open Sans"/>
              </a:rPr>
              <a:t>2</a:t>
            </a:r>
          </a:p>
        </p:txBody>
      </p:sp>
      <p:grpSp>
        <p:nvGrpSpPr>
          <p:cNvPr name="Group 4" id="4"/>
          <p:cNvGrpSpPr/>
          <p:nvPr/>
        </p:nvGrpSpPr>
        <p:grpSpPr>
          <a:xfrm rot="0">
            <a:off x="1096593" y="4284589"/>
            <a:ext cx="4655800" cy="1137284"/>
            <a:chOff x="0" y="0"/>
            <a:chExt cx="1226219" cy="299532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226219" cy="299532"/>
            </a:xfrm>
            <a:custGeom>
              <a:avLst/>
              <a:gdLst/>
              <a:ahLst/>
              <a:cxnLst/>
              <a:rect r="r" b="b" t="t" l="l"/>
              <a:pathLst>
                <a:path h="299532" w="1226219">
                  <a:moveTo>
                    <a:pt x="0" y="0"/>
                  </a:moveTo>
                  <a:lnTo>
                    <a:pt x="1226219" y="0"/>
                  </a:lnTo>
                  <a:lnTo>
                    <a:pt x="1226219" y="299532"/>
                  </a:lnTo>
                  <a:lnTo>
                    <a:pt x="0" y="299532"/>
                  </a:lnTo>
                  <a:close/>
                </a:path>
              </a:pathLst>
            </a:custGeom>
            <a:ln w="3810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6" id="6"/>
            <p:cNvSpPr txBox="true"/>
            <p:nvPr/>
          </p:nvSpPr>
          <p:spPr>
            <a:xfrm>
              <a:off x="0" y="-19050"/>
              <a:ext cx="1226219" cy="31858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99"/>
                </a:lnSpc>
              </a:pPr>
              <a:r>
                <a:rPr lang="en-US" b="true" sz="2499">
                  <a:solidFill>
                    <a:srgbClr val="000000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User Management</a:t>
              </a: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6329105" y="4284589"/>
            <a:ext cx="5277026" cy="1008485"/>
            <a:chOff x="0" y="0"/>
            <a:chExt cx="1389834" cy="265609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1389834" cy="265609"/>
            </a:xfrm>
            <a:custGeom>
              <a:avLst/>
              <a:gdLst/>
              <a:ahLst/>
              <a:cxnLst/>
              <a:rect r="r" b="b" t="t" l="l"/>
              <a:pathLst>
                <a:path h="265609" w="1389834">
                  <a:moveTo>
                    <a:pt x="0" y="0"/>
                  </a:moveTo>
                  <a:lnTo>
                    <a:pt x="1389834" y="0"/>
                  </a:lnTo>
                  <a:lnTo>
                    <a:pt x="1389834" y="265609"/>
                  </a:lnTo>
                  <a:lnTo>
                    <a:pt x="0" y="265609"/>
                  </a:lnTo>
                  <a:close/>
                </a:path>
              </a:pathLst>
            </a:custGeom>
            <a:ln w="3810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9" id="9"/>
            <p:cNvSpPr txBox="true"/>
            <p:nvPr/>
          </p:nvSpPr>
          <p:spPr>
            <a:xfrm>
              <a:off x="0" y="-19050"/>
              <a:ext cx="1389834" cy="28465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99"/>
                </a:lnSpc>
              </a:pPr>
              <a:r>
                <a:rPr lang="en-US" sz="2499" b="true">
                  <a:solidFill>
                    <a:srgbClr val="000000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System health</a:t>
              </a: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11982274" y="4284589"/>
            <a:ext cx="5277026" cy="1008485"/>
            <a:chOff x="0" y="0"/>
            <a:chExt cx="1389834" cy="265609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389834" cy="265609"/>
            </a:xfrm>
            <a:custGeom>
              <a:avLst/>
              <a:gdLst/>
              <a:ahLst/>
              <a:cxnLst/>
              <a:rect r="r" b="b" t="t" l="l"/>
              <a:pathLst>
                <a:path h="265609" w="1389834">
                  <a:moveTo>
                    <a:pt x="0" y="0"/>
                  </a:moveTo>
                  <a:lnTo>
                    <a:pt x="1389834" y="0"/>
                  </a:lnTo>
                  <a:lnTo>
                    <a:pt x="1389834" y="265609"/>
                  </a:lnTo>
                  <a:lnTo>
                    <a:pt x="0" y="265609"/>
                  </a:lnTo>
                  <a:close/>
                </a:path>
              </a:pathLst>
            </a:custGeom>
            <a:ln w="3810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12" id="12"/>
            <p:cNvSpPr txBox="true"/>
            <p:nvPr/>
          </p:nvSpPr>
          <p:spPr>
            <a:xfrm>
              <a:off x="0" y="-19050"/>
              <a:ext cx="1389834" cy="28465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99"/>
                </a:lnSpc>
              </a:pPr>
              <a:r>
                <a:rPr lang="en-US" b="true" sz="2499">
                  <a:solidFill>
                    <a:srgbClr val="000000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Session security</a:t>
              </a: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3113880" y="6156080"/>
            <a:ext cx="5277026" cy="1008806"/>
            <a:chOff x="0" y="0"/>
            <a:chExt cx="1389834" cy="265694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1389834" cy="265694"/>
            </a:xfrm>
            <a:custGeom>
              <a:avLst/>
              <a:gdLst/>
              <a:ahLst/>
              <a:cxnLst/>
              <a:rect r="r" b="b" t="t" l="l"/>
              <a:pathLst>
                <a:path h="265694" w="1389834">
                  <a:moveTo>
                    <a:pt x="0" y="0"/>
                  </a:moveTo>
                  <a:lnTo>
                    <a:pt x="1389834" y="0"/>
                  </a:lnTo>
                  <a:lnTo>
                    <a:pt x="1389834" y="265694"/>
                  </a:lnTo>
                  <a:lnTo>
                    <a:pt x="0" y="265694"/>
                  </a:lnTo>
                  <a:close/>
                </a:path>
              </a:pathLst>
            </a:custGeom>
            <a:ln w="3810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15" id="15"/>
            <p:cNvSpPr txBox="true"/>
            <p:nvPr/>
          </p:nvSpPr>
          <p:spPr>
            <a:xfrm>
              <a:off x="0" y="-19050"/>
              <a:ext cx="1389834" cy="28474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99"/>
                </a:lnSpc>
              </a:pPr>
              <a:r>
                <a:rPr lang="en-US" b="true" sz="2499">
                  <a:solidFill>
                    <a:srgbClr val="000000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Proxmox AI session</a:t>
              </a: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9952465" y="6156080"/>
            <a:ext cx="5277026" cy="1008806"/>
            <a:chOff x="0" y="0"/>
            <a:chExt cx="1389834" cy="265694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1389834" cy="265694"/>
            </a:xfrm>
            <a:custGeom>
              <a:avLst/>
              <a:gdLst/>
              <a:ahLst/>
              <a:cxnLst/>
              <a:rect r="r" b="b" t="t" l="l"/>
              <a:pathLst>
                <a:path h="265694" w="1389834">
                  <a:moveTo>
                    <a:pt x="0" y="0"/>
                  </a:moveTo>
                  <a:lnTo>
                    <a:pt x="1389834" y="0"/>
                  </a:lnTo>
                  <a:lnTo>
                    <a:pt x="1389834" y="265694"/>
                  </a:lnTo>
                  <a:lnTo>
                    <a:pt x="0" y="265694"/>
                  </a:lnTo>
                  <a:close/>
                </a:path>
              </a:pathLst>
            </a:custGeom>
            <a:ln w="3810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18" id="18"/>
            <p:cNvSpPr txBox="true"/>
            <p:nvPr/>
          </p:nvSpPr>
          <p:spPr>
            <a:xfrm>
              <a:off x="0" y="-19050"/>
              <a:ext cx="1389834" cy="28474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99"/>
                </a:lnSpc>
              </a:pPr>
              <a:r>
                <a:rPr lang="en-US" sz="2499" b="true">
                  <a:solidFill>
                    <a:srgbClr val="000000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27</a:t>
              </a:r>
              <a:r>
                <a:rPr lang="en-US" sz="2499" b="true">
                  <a:solidFill>
                    <a:srgbClr val="000000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th</a:t>
              </a:r>
              <a:r>
                <a:rPr lang="en-US" sz="2499" b="true">
                  <a:solidFill>
                    <a:srgbClr val="000000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 Med-AI Conference</a:t>
              </a:r>
            </a:p>
          </p:txBody>
        </p:sp>
      </p:grp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4794728" y="4676775"/>
            <a:ext cx="8698544" cy="8096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6299"/>
              </a:lnSpc>
              <a:spcBef>
                <a:spcPct val="0"/>
              </a:spcBef>
            </a:pPr>
            <a:r>
              <a:rPr lang="en-US" b="true" sz="4500" spc="-89">
                <a:solidFill>
                  <a:srgbClr val="191919"/>
                </a:solidFill>
                <a:latin typeface="Poppins Bold"/>
                <a:ea typeface="Poppins Bold"/>
                <a:cs typeface="Poppins Bold"/>
                <a:sym typeface="Poppins Bold"/>
              </a:rPr>
              <a:t>User Management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17259300" y="9210675"/>
            <a:ext cx="152400" cy="200025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191919"/>
                </a:solidFill>
                <a:latin typeface="Open Sans"/>
                <a:ea typeface="Open Sans"/>
                <a:cs typeface="Open Sans"/>
                <a:sym typeface="Open Sans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7259300" y="9210675"/>
            <a:ext cx="152400" cy="200025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191919"/>
                </a:solidFill>
                <a:latin typeface="Open Sans"/>
                <a:ea typeface="Open Sans"/>
                <a:cs typeface="Open Sans"/>
                <a:sym typeface="Open Sans"/>
              </a:rPr>
              <a:t>4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2677595" y="4511984"/>
            <a:ext cx="12932809" cy="19989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219"/>
              </a:lnSpc>
              <a:spcBef>
                <a:spcPct val="0"/>
              </a:spcBef>
            </a:pPr>
            <a:r>
              <a:rPr lang="en-US" b="true" sz="2299">
                <a:solidFill>
                  <a:srgbClr val="191919"/>
                </a:solidFill>
                <a:latin typeface="Poppins Bold"/>
                <a:ea typeface="Poppins Bold"/>
                <a:cs typeface="Poppins Bold"/>
                <a:sym typeface="Poppins Bold"/>
              </a:rPr>
              <a:t>Full CRUD operations on users (create, edit, delete) with role assignment and password reset from the admin panel</a:t>
            </a:r>
          </a:p>
          <a:p>
            <a:pPr algn="ctr">
              <a:lnSpc>
                <a:spcPts val="3219"/>
              </a:lnSpc>
              <a:spcBef>
                <a:spcPct val="0"/>
              </a:spcBef>
            </a:pPr>
            <a:r>
              <a:rPr lang="en-US" b="true" sz="2299">
                <a:solidFill>
                  <a:srgbClr val="191919"/>
                </a:solidFill>
                <a:latin typeface="Poppins Bold"/>
                <a:ea typeface="Poppins Bold"/>
                <a:cs typeface="Poppins Bold"/>
                <a:sym typeface="Poppins Bold"/>
              </a:rPr>
              <a:t>Toggle user active/inactive status with instant effect — inactive accounts are immediately blocked from login</a:t>
            </a:r>
          </a:p>
          <a:p>
            <a:pPr algn="ctr">
              <a:lnSpc>
                <a:spcPts val="3219"/>
              </a:lnSpc>
              <a:spcBef>
                <a:spcPct val="0"/>
              </a:spcBef>
            </a:pPr>
            <a:r>
              <a:rPr lang="en-US" b="true" sz="2299">
                <a:solidFill>
                  <a:srgbClr val="191919"/>
                </a:solidFill>
                <a:latin typeface="Poppins Bold"/>
                <a:ea typeface="Poppins Bold"/>
                <a:cs typeface="Poppins Bold"/>
                <a:sym typeface="Poppins Bold"/>
              </a:rPr>
              <a:t>Dedicated user detail page showing profile info and complete activity history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4794728" y="904875"/>
            <a:ext cx="8698544" cy="8096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6299"/>
              </a:lnSpc>
              <a:spcBef>
                <a:spcPct val="0"/>
              </a:spcBef>
            </a:pPr>
            <a:r>
              <a:rPr lang="en-US" b="true" sz="4500" spc="-89">
                <a:solidFill>
                  <a:srgbClr val="191919"/>
                </a:solidFill>
                <a:latin typeface="Poppins Bold"/>
                <a:ea typeface="Poppins Bold"/>
                <a:cs typeface="Poppins Bold"/>
                <a:sym typeface="Poppins Bold"/>
              </a:rPr>
              <a:t>User Management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7259300" y="9210675"/>
            <a:ext cx="152400" cy="200025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191919"/>
                </a:solidFill>
                <a:latin typeface="Open Sans"/>
                <a:ea typeface="Open Sans"/>
                <a:cs typeface="Open Sans"/>
                <a:sym typeface="Open Sans"/>
              </a:rPr>
              <a:t>5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2341485" y="4676775"/>
            <a:ext cx="13605030" cy="8096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6299"/>
              </a:lnSpc>
              <a:spcBef>
                <a:spcPct val="0"/>
              </a:spcBef>
            </a:pPr>
            <a:r>
              <a:rPr lang="en-US" b="true" sz="4500" spc="-89">
                <a:solidFill>
                  <a:srgbClr val="191919"/>
                </a:solidFill>
                <a:latin typeface="Poppins Bold"/>
                <a:ea typeface="Poppins Bold"/>
                <a:cs typeface="Poppins Bold"/>
                <a:sym typeface="Poppins Bold"/>
              </a:rPr>
              <a:t>System health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7259300" y="9210675"/>
            <a:ext cx="152400" cy="200025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191919"/>
                </a:solidFill>
                <a:latin typeface="Open Sans"/>
                <a:ea typeface="Open Sans"/>
                <a:cs typeface="Open Sans"/>
                <a:sym typeface="Open Sans"/>
              </a:rPr>
              <a:t>6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2677595" y="3915407"/>
            <a:ext cx="12932809" cy="23990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219"/>
              </a:lnSpc>
              <a:spcBef>
                <a:spcPct val="0"/>
              </a:spcBef>
            </a:pPr>
            <a:r>
              <a:rPr lang="en-US" b="true" sz="2299">
                <a:solidFill>
                  <a:srgbClr val="191919"/>
                </a:solidFill>
                <a:latin typeface="Poppins Bold"/>
                <a:ea typeface="Poppins Bold"/>
                <a:cs typeface="Poppins Bold"/>
                <a:sym typeface="Poppins Bold"/>
              </a:rPr>
              <a:t>Platform settings (name, session timeout, backup frequency, notifications) persisted server-side and editable in real time</a:t>
            </a:r>
          </a:p>
          <a:p>
            <a:pPr algn="ctr">
              <a:lnSpc>
                <a:spcPts val="3219"/>
              </a:lnSpc>
              <a:spcBef>
                <a:spcPct val="0"/>
              </a:spcBef>
            </a:pPr>
            <a:r>
              <a:rPr lang="en-US" b="true" sz="2299">
                <a:solidFill>
                  <a:srgbClr val="191919"/>
                </a:solidFill>
                <a:latin typeface="Poppins Bold"/>
                <a:ea typeface="Poppins Bold"/>
                <a:cs typeface="Poppins Bold"/>
                <a:sym typeface="Poppins Bold"/>
              </a:rPr>
              <a:t>Live system health dashboard monitoring API, database, disk, and memory status with colored indicators</a:t>
            </a:r>
          </a:p>
          <a:p>
            <a:pPr algn="ctr">
              <a:lnSpc>
                <a:spcPts val="3219"/>
              </a:lnSpc>
              <a:spcBef>
                <a:spcPct val="0"/>
              </a:spcBef>
            </a:pPr>
            <a:r>
              <a:rPr lang="en-US" b="true" sz="2299">
                <a:solidFill>
                  <a:srgbClr val="191919"/>
                </a:solidFill>
                <a:latin typeface="Poppins Bold"/>
                <a:ea typeface="Poppins Bold"/>
                <a:cs typeface="Poppins Bold"/>
                <a:sym typeface="Poppins Bold"/>
              </a:rPr>
              <a:t>Broadcast notification system allowing admins to send alerts to all platform users instantly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2341485" y="904875"/>
            <a:ext cx="13605030" cy="8096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6299"/>
              </a:lnSpc>
              <a:spcBef>
                <a:spcPct val="0"/>
              </a:spcBef>
            </a:pPr>
            <a:r>
              <a:rPr lang="en-US" b="true" sz="4500" spc="-89">
                <a:solidFill>
                  <a:srgbClr val="191919"/>
                </a:solidFill>
                <a:latin typeface="Poppins Bold"/>
                <a:ea typeface="Poppins Bold"/>
                <a:cs typeface="Poppins Bold"/>
                <a:sym typeface="Poppins Bold"/>
              </a:rPr>
              <a:t>System health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7259300" y="9210675"/>
            <a:ext cx="152400" cy="200025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191919"/>
                </a:solidFill>
                <a:latin typeface="Open Sans"/>
                <a:ea typeface="Open Sans"/>
                <a:cs typeface="Open Sans"/>
                <a:sym typeface="Open Sans"/>
              </a:rPr>
              <a:t>7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2413639" y="4676775"/>
            <a:ext cx="13460722" cy="8096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6299"/>
              </a:lnSpc>
              <a:spcBef>
                <a:spcPct val="0"/>
              </a:spcBef>
            </a:pPr>
            <a:r>
              <a:rPr lang="en-US" b="true" sz="4500" spc="-89">
                <a:solidFill>
                  <a:srgbClr val="191919"/>
                </a:solidFill>
                <a:latin typeface="Poppins Bold"/>
                <a:ea typeface="Poppins Bold"/>
                <a:cs typeface="Poppins Bold"/>
                <a:sym typeface="Poppins Bold"/>
              </a:rPr>
              <a:t>Session security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7259300" y="9210675"/>
            <a:ext cx="152400" cy="200025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191919"/>
                </a:solidFill>
                <a:latin typeface="Open Sans"/>
                <a:ea typeface="Open Sans"/>
                <a:cs typeface="Open Sans"/>
                <a:sym typeface="Open Sans"/>
              </a:rPr>
              <a:t>8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2677595" y="4179775"/>
            <a:ext cx="12932809" cy="23990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219"/>
              </a:lnSpc>
              <a:spcBef>
                <a:spcPct val="0"/>
              </a:spcBef>
            </a:pPr>
            <a:r>
              <a:rPr lang="en-US" b="true" sz="2299">
                <a:solidFill>
                  <a:srgbClr val="191919"/>
                </a:solidFill>
                <a:latin typeface="Poppins Bold"/>
                <a:ea typeface="Poppins Bold"/>
                <a:cs typeface="Poppins Bold"/>
                <a:sym typeface="Poppins Bold"/>
              </a:rPr>
              <a:t>Audit logging records every sensitive action (login, create, update, delete) with timestamp, IP address, and username</a:t>
            </a:r>
          </a:p>
          <a:p>
            <a:pPr algn="ctr">
              <a:lnSpc>
                <a:spcPts val="3219"/>
              </a:lnSpc>
              <a:spcBef>
                <a:spcPct val="0"/>
              </a:spcBef>
            </a:pPr>
            <a:r>
              <a:rPr lang="en-US" b="true" sz="2299">
                <a:solidFill>
                  <a:srgbClr val="191919"/>
                </a:solidFill>
                <a:latin typeface="Poppins Bold"/>
                <a:ea typeface="Poppins Bold"/>
                <a:cs typeface="Poppins Bold"/>
                <a:sym typeface="Poppins Bold"/>
              </a:rPr>
              <a:t>Advanced server-side filters: search by username, action type, and date range for quick incident investigation</a:t>
            </a:r>
          </a:p>
          <a:p>
            <a:pPr algn="ctr">
              <a:lnSpc>
                <a:spcPts val="3219"/>
              </a:lnSpc>
              <a:spcBef>
                <a:spcPct val="0"/>
              </a:spcBef>
            </a:pPr>
            <a:r>
              <a:rPr lang="en-US" b="true" sz="2299">
                <a:solidFill>
                  <a:srgbClr val="191919"/>
                </a:solidFill>
                <a:latin typeface="Poppins Bold"/>
                <a:ea typeface="Poppins Bold"/>
                <a:cs typeface="Poppins Bold"/>
                <a:sym typeface="Poppins Bold"/>
              </a:rPr>
              <a:t>One-click CSV export of filtered audit logs for compliance reporting and external analysis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2413639" y="904875"/>
            <a:ext cx="13460722" cy="8096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6299"/>
              </a:lnSpc>
              <a:spcBef>
                <a:spcPct val="0"/>
              </a:spcBef>
            </a:pPr>
            <a:r>
              <a:rPr lang="en-US" b="true" sz="4500" spc="-89">
                <a:solidFill>
                  <a:srgbClr val="191919"/>
                </a:solidFill>
                <a:latin typeface="Poppins Bold"/>
                <a:ea typeface="Poppins Bold"/>
                <a:cs typeface="Poppins Bold"/>
                <a:sym typeface="Poppins Bold"/>
              </a:rPr>
              <a:t>Session security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7259300" y="9210675"/>
            <a:ext cx="152400" cy="200025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191919"/>
                </a:solidFill>
                <a:latin typeface="Open Sans"/>
                <a:ea typeface="Open Sans"/>
                <a:cs typeface="Open Sans"/>
                <a:sym typeface="Open Sans"/>
              </a:rPr>
              <a:t>9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2413639" y="4676775"/>
            <a:ext cx="13460722" cy="8096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6299"/>
              </a:lnSpc>
              <a:spcBef>
                <a:spcPct val="0"/>
              </a:spcBef>
            </a:pPr>
            <a:r>
              <a:rPr lang="en-US" b="true" sz="4500" spc="-89">
                <a:solidFill>
                  <a:srgbClr val="191919"/>
                </a:solidFill>
                <a:latin typeface="Poppins Bold"/>
                <a:ea typeface="Poppins Bold"/>
                <a:cs typeface="Poppins Bold"/>
                <a:sym typeface="Poppins Bold"/>
              </a:rPr>
              <a:t>Proxmox AI session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7259300" y="9210675"/>
            <a:ext cx="152400" cy="200025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191919"/>
                </a:solidFill>
                <a:latin typeface="Open Sans"/>
                <a:ea typeface="Open Sans"/>
                <a:cs typeface="Open Sans"/>
                <a:sym typeface="Open Sans"/>
              </a:rPr>
              <a:t>10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1551923" y="4115432"/>
            <a:ext cx="5149691" cy="19989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19"/>
              </a:lnSpc>
              <a:spcBef>
                <a:spcPct val="0"/>
              </a:spcBef>
            </a:pPr>
            <a:r>
              <a:rPr lang="en-US" b="true" sz="2299">
                <a:solidFill>
                  <a:srgbClr val="191919"/>
                </a:solidFill>
                <a:latin typeface="Poppins Bold"/>
                <a:ea typeface="Poppins Bold"/>
                <a:cs typeface="Poppins Bold"/>
                <a:sym typeface="Poppins Bold"/>
              </a:rPr>
              <a:t>Available Hardware:</a:t>
            </a:r>
          </a:p>
          <a:p>
            <a:pPr algn="l">
              <a:lnSpc>
                <a:spcPts val="3219"/>
              </a:lnSpc>
              <a:spcBef>
                <a:spcPct val="0"/>
              </a:spcBef>
            </a:pPr>
            <a:r>
              <a:rPr lang="en-US" b="true" sz="2299">
                <a:solidFill>
                  <a:srgbClr val="191919"/>
                </a:solidFill>
                <a:latin typeface="Poppins Bold"/>
                <a:ea typeface="Poppins Bold"/>
                <a:cs typeface="Poppins Bold"/>
                <a:sym typeface="Poppins Bold"/>
              </a:rPr>
              <a:t>NVIDIA RTX 2000 Ada — 8 GB VRAM</a:t>
            </a:r>
          </a:p>
          <a:p>
            <a:pPr algn="l">
              <a:lnSpc>
                <a:spcPts val="3219"/>
              </a:lnSpc>
              <a:spcBef>
                <a:spcPct val="0"/>
              </a:spcBef>
            </a:pPr>
            <a:r>
              <a:rPr lang="en-US" b="true" sz="2299">
                <a:solidFill>
                  <a:srgbClr val="191919"/>
                </a:solidFill>
                <a:latin typeface="Poppins Bold"/>
                <a:ea typeface="Poppins Bold"/>
                <a:cs typeface="Poppins Bold"/>
                <a:sym typeface="Poppins Bold"/>
              </a:rPr>
              <a:t>32 GB RAM</a:t>
            </a:r>
          </a:p>
          <a:p>
            <a:pPr algn="l">
              <a:lnSpc>
                <a:spcPts val="3219"/>
              </a:lnSpc>
              <a:spcBef>
                <a:spcPct val="0"/>
              </a:spcBef>
            </a:pPr>
            <a:r>
              <a:rPr lang="en-US" b="true" sz="2299">
                <a:solidFill>
                  <a:srgbClr val="191919"/>
                </a:solidFill>
                <a:latin typeface="Poppins Bold"/>
                <a:ea typeface="Poppins Bold"/>
                <a:cs typeface="Poppins Bold"/>
                <a:sym typeface="Poppins Bold"/>
              </a:rPr>
              <a:t>Intel Iris Graphics (integrated)</a:t>
            </a:r>
          </a:p>
          <a:p>
            <a:pPr algn="l">
              <a:lnSpc>
                <a:spcPts val="3219"/>
              </a:lnSpc>
              <a:spcBef>
                <a:spcPct val="0"/>
              </a:spcBef>
            </a:pPr>
            <a:r>
              <a:rPr lang="en-US" b="true" sz="2299">
                <a:solidFill>
                  <a:srgbClr val="191919"/>
                </a:solidFill>
                <a:latin typeface="Poppins Bold"/>
                <a:ea typeface="Poppins Bold"/>
                <a:cs typeface="Poppins Bold"/>
                <a:sym typeface="Poppins Bold"/>
              </a:rPr>
              <a:t>1 TB SSD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8409465" y="3919031"/>
            <a:ext cx="8614387" cy="23917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92"/>
              </a:lnSpc>
              <a:spcBef>
                <a:spcPct val="0"/>
              </a:spcBef>
            </a:pPr>
            <a:r>
              <a:rPr lang="en-US" b="true" sz="1708">
                <a:solidFill>
                  <a:srgbClr val="191919"/>
                </a:solidFill>
                <a:latin typeface="Poppins Bold"/>
                <a:ea typeface="Poppins Bold"/>
                <a:cs typeface="Poppins Bold"/>
                <a:sym typeface="Poppins Bold"/>
              </a:rPr>
              <a:t>Compatibility with BioMistral (Mistral 7B):</a:t>
            </a:r>
          </a:p>
          <a:p>
            <a:pPr algn="l">
              <a:lnSpc>
                <a:spcPts val="2392"/>
              </a:lnSpc>
              <a:spcBef>
                <a:spcPct val="0"/>
              </a:spcBef>
            </a:pPr>
            <a:r>
              <a:rPr lang="en-US" b="true" sz="1708">
                <a:solidFill>
                  <a:srgbClr val="191919"/>
                </a:solidFill>
                <a:latin typeface="Poppins Bold"/>
                <a:ea typeface="Poppins Bold"/>
                <a:cs typeface="Poppins Bold"/>
                <a:sym typeface="Poppins Bold"/>
              </a:rPr>
              <a:t>The RTX 2000 Ada GPU has enough video memory (8 GB) to run an optimized version of the model without any issues</a:t>
            </a:r>
          </a:p>
          <a:p>
            <a:pPr algn="l">
              <a:lnSpc>
                <a:spcPts val="2392"/>
              </a:lnSpc>
              <a:spcBef>
                <a:spcPct val="0"/>
              </a:spcBef>
            </a:pPr>
            <a:r>
              <a:rPr lang="en-US" b="true" sz="1708">
                <a:solidFill>
                  <a:srgbClr val="191919"/>
                </a:solidFill>
                <a:latin typeface="Poppins Bold"/>
                <a:ea typeface="Poppins Bold"/>
                <a:cs typeface="Poppins Bold"/>
                <a:sym typeface="Poppins Bold"/>
              </a:rPr>
              <a:t>32 GB of RAM provides a comfortable margin to keep the system stable and responsive during use</a:t>
            </a:r>
          </a:p>
          <a:p>
            <a:pPr algn="l">
              <a:lnSpc>
                <a:spcPts val="2392"/>
              </a:lnSpc>
              <a:spcBef>
                <a:spcPct val="0"/>
              </a:spcBef>
            </a:pPr>
            <a:r>
              <a:rPr lang="en-US" b="true" sz="1708">
                <a:solidFill>
                  <a:srgbClr val="191919"/>
                </a:solidFill>
                <a:latin typeface="Poppins Bold"/>
                <a:ea typeface="Poppins Bold"/>
                <a:cs typeface="Poppins Bold"/>
                <a:sym typeface="Poppins Bold"/>
              </a:rPr>
              <a:t>Deployment is done via Ollama, a simple tool that allows downloading and running the model in a few commands — no complex setup required</a:t>
            </a:r>
          </a:p>
          <a:p>
            <a:pPr algn="l">
              <a:lnSpc>
                <a:spcPts val="2392"/>
              </a:lnSpc>
              <a:spcBef>
                <a:spcPct val="0"/>
              </a:spcBef>
            </a:pPr>
            <a:r>
              <a:rPr lang="en-US" b="true" sz="1708">
                <a:solidFill>
                  <a:srgbClr val="191919"/>
                </a:solidFill>
                <a:latin typeface="Poppins Bold"/>
                <a:ea typeface="Poppins Bold"/>
                <a:cs typeface="Poppins Bold"/>
                <a:sym typeface="Poppins Bold"/>
              </a:rPr>
              <a:t>The model weighs only about 4–5 GB, easily fitting on the 1 TB SSD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4766975" y="8859513"/>
            <a:ext cx="7949684" cy="3987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219"/>
              </a:lnSpc>
              <a:spcBef>
                <a:spcPct val="0"/>
              </a:spcBef>
            </a:pPr>
            <a:r>
              <a:rPr lang="en-US" b="true" sz="2299">
                <a:solidFill>
                  <a:srgbClr val="191919"/>
                </a:solidFill>
                <a:latin typeface="Poppins Bold"/>
                <a:ea typeface="Poppins Bold"/>
                <a:cs typeface="Poppins Bold"/>
                <a:sym typeface="Poppins Bold"/>
              </a:rPr>
              <a:t> Hardware compatible — local deployment is feasible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4216370" y="900870"/>
            <a:ext cx="9050893" cy="8096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299"/>
              </a:lnSpc>
              <a:spcBef>
                <a:spcPct val="0"/>
              </a:spcBef>
            </a:pPr>
            <a:r>
              <a:rPr lang="en-US" b="true" sz="4500">
                <a:solidFill>
                  <a:srgbClr val="191919"/>
                </a:solidFill>
                <a:latin typeface="Poppins Bold"/>
                <a:ea typeface="Poppins Bold"/>
                <a:cs typeface="Poppins Bold"/>
                <a:sym typeface="Poppins Bold"/>
              </a:rPr>
              <a:t>Local Deployment of BioMistral</a:t>
            </a: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7259300" y="9210675"/>
            <a:ext cx="152400" cy="200025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191919"/>
                </a:solidFill>
                <a:latin typeface="Open Sans"/>
                <a:ea typeface="Open Sans"/>
                <a:cs typeface="Open Sans"/>
                <a:sym typeface="Open Sans"/>
              </a:rPr>
              <a:t>11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2413639" y="4676775"/>
            <a:ext cx="13460722" cy="8096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6299"/>
              </a:lnSpc>
              <a:spcBef>
                <a:spcPct val="0"/>
              </a:spcBef>
            </a:pPr>
            <a:r>
              <a:rPr lang="en-US" b="true" sz="4500" spc="-89">
                <a:solidFill>
                  <a:srgbClr val="191919"/>
                </a:solidFill>
                <a:latin typeface="Poppins Bold"/>
                <a:ea typeface="Poppins Bold"/>
                <a:cs typeface="Poppins Bold"/>
                <a:sym typeface="Poppins Bold"/>
              </a:rPr>
              <a:t>27</a:t>
            </a:r>
            <a:r>
              <a:rPr lang="en-US" b="true" sz="4500" spc="-89">
                <a:solidFill>
                  <a:srgbClr val="191919"/>
                </a:solidFill>
                <a:latin typeface="Poppins Bold"/>
                <a:ea typeface="Poppins Bold"/>
                <a:cs typeface="Poppins Bold"/>
                <a:sym typeface="Poppins Bold"/>
              </a:rPr>
              <a:t>th</a:t>
            </a:r>
            <a:r>
              <a:rPr lang="en-US" b="true" sz="4500" spc="-89">
                <a:solidFill>
                  <a:srgbClr val="191919"/>
                </a:solidFill>
                <a:latin typeface="Poppins Bold"/>
                <a:ea typeface="Poppins Bold"/>
                <a:cs typeface="Poppins Bold"/>
                <a:sym typeface="Poppins Bold"/>
              </a:rPr>
              <a:t> M</a:t>
            </a:r>
            <a:r>
              <a:rPr lang="en-US" b="true" sz="4500" spc="-89">
                <a:solidFill>
                  <a:srgbClr val="191919"/>
                </a:solidFill>
                <a:latin typeface="Poppins Bold"/>
                <a:ea typeface="Poppins Bold"/>
                <a:cs typeface="Poppins Bold"/>
                <a:sym typeface="Poppins Bold"/>
              </a:rPr>
              <a:t>ed-AI Conference</a:t>
            </a:r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7259300" y="9210675"/>
            <a:ext cx="152400" cy="200025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191919"/>
                </a:solidFill>
                <a:latin typeface="Open Sans"/>
                <a:ea typeface="Open Sans"/>
                <a:cs typeface="Open Sans"/>
                <a:sym typeface="Open Sans"/>
              </a:rPr>
              <a:t>12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3105931" y="1915157"/>
            <a:ext cx="12076138" cy="63995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19"/>
              </a:lnSpc>
            </a:pPr>
            <a:r>
              <a:rPr lang="en-US" sz="2299" b="true">
                <a:solidFill>
                  <a:srgbClr val="191919"/>
                </a:solidFill>
                <a:latin typeface="Poppins Bold"/>
                <a:ea typeface="Poppins Bold"/>
                <a:cs typeface="Poppins Bold"/>
                <a:sym typeface="Poppins Bold"/>
              </a:rPr>
              <a:t>Necessity</a:t>
            </a:r>
          </a:p>
          <a:p>
            <a:pPr algn="l" marL="496514" indent="-248257" lvl="1">
              <a:lnSpc>
                <a:spcPts val="3219"/>
              </a:lnSpc>
              <a:buFont typeface="Arial"/>
              <a:buChar char="•"/>
            </a:pPr>
            <a:r>
              <a:rPr lang="en-US" b="true" sz="2299">
                <a:solidFill>
                  <a:srgbClr val="191919"/>
                </a:solidFill>
                <a:latin typeface="Poppins Bold"/>
                <a:ea typeface="Poppins Bold"/>
                <a:cs typeface="Poppins Bold"/>
                <a:sym typeface="Poppins Bold"/>
              </a:rPr>
              <a:t>Manual, fragmented workflows waste doctor time</a:t>
            </a:r>
          </a:p>
          <a:p>
            <a:pPr algn="l" marL="496514" indent="-248257" lvl="1">
              <a:lnSpc>
                <a:spcPts val="3219"/>
              </a:lnSpc>
              <a:buFont typeface="Arial"/>
              <a:buChar char="•"/>
            </a:pPr>
            <a:r>
              <a:rPr lang="en-US" b="true" sz="2299">
                <a:solidFill>
                  <a:srgbClr val="191919"/>
                </a:solidFill>
                <a:latin typeface="Poppins Bold"/>
                <a:ea typeface="Poppins Bold"/>
                <a:cs typeface="Poppins Bold"/>
                <a:sym typeface="Poppins Bold"/>
              </a:rPr>
              <a:t>No affordable digital solution for rheumatology clinics in Morocco</a:t>
            </a:r>
          </a:p>
          <a:p>
            <a:pPr algn="l">
              <a:lnSpc>
                <a:spcPts val="3219"/>
              </a:lnSpc>
            </a:pPr>
            <a:r>
              <a:rPr lang="en-US" sz="2299" b="true">
                <a:solidFill>
                  <a:srgbClr val="191919"/>
                </a:solidFill>
                <a:latin typeface="Poppins Bold"/>
                <a:ea typeface="Poppins Bold"/>
                <a:cs typeface="Poppins Bold"/>
                <a:sym typeface="Poppins Bold"/>
              </a:rPr>
              <a:t>Demo</a:t>
            </a:r>
          </a:p>
          <a:p>
            <a:pPr algn="l" marL="496514" indent="-248257" lvl="1">
              <a:lnSpc>
                <a:spcPts val="3219"/>
              </a:lnSpc>
              <a:buFont typeface="Arial"/>
              <a:buChar char="•"/>
            </a:pPr>
            <a:r>
              <a:rPr lang="en-US" b="true" sz="2299">
                <a:solidFill>
                  <a:srgbClr val="191919"/>
                </a:solidFill>
                <a:latin typeface="Poppins Bold"/>
                <a:ea typeface="Poppins Bold"/>
                <a:cs typeface="Poppins Bold"/>
                <a:sym typeface="Poppins Bold"/>
              </a:rPr>
              <a:t>Live walkthrough: patients, appointments, medical acts, AI chat</a:t>
            </a:r>
          </a:p>
          <a:p>
            <a:pPr algn="l" marL="496514" indent="-248257" lvl="1">
              <a:lnSpc>
                <a:spcPts val="3219"/>
              </a:lnSpc>
              <a:buFont typeface="Arial"/>
              <a:buChar char="•"/>
            </a:pPr>
            <a:r>
              <a:rPr lang="en-US" b="true" sz="2299">
                <a:solidFill>
                  <a:srgbClr val="191919"/>
                </a:solidFill>
                <a:latin typeface="Poppins Bold"/>
                <a:ea typeface="Poppins Bold"/>
                <a:cs typeface="Poppins Bold"/>
                <a:sym typeface="Poppins Bold"/>
              </a:rPr>
              <a:t>Admin panel: user management, audit logs, system health</a:t>
            </a:r>
          </a:p>
          <a:p>
            <a:pPr algn="l" marL="496514" indent="-248257" lvl="1">
              <a:lnSpc>
                <a:spcPts val="3219"/>
              </a:lnSpc>
              <a:buFont typeface="Arial"/>
              <a:buChar char="•"/>
            </a:pPr>
            <a:r>
              <a:rPr lang="en-US" b="true" sz="2299">
                <a:solidFill>
                  <a:srgbClr val="191919"/>
                </a:solidFill>
                <a:latin typeface="Poppins Bold"/>
                <a:ea typeface="Poppins Bold"/>
                <a:cs typeface="Poppins Bold"/>
                <a:sym typeface="Poppins Bold"/>
              </a:rPr>
              <a:t>Data Protection (DPI)</a:t>
            </a:r>
          </a:p>
          <a:p>
            <a:pPr algn="l" marL="496514" indent="-248257" lvl="1">
              <a:lnSpc>
                <a:spcPts val="3219"/>
              </a:lnSpc>
              <a:buFont typeface="Arial"/>
              <a:buChar char="•"/>
            </a:pPr>
            <a:r>
              <a:rPr lang="en-US" b="true" sz="2299">
                <a:solidFill>
                  <a:srgbClr val="191919"/>
                </a:solidFill>
                <a:latin typeface="Poppins Bold"/>
                <a:ea typeface="Poppins Bold"/>
                <a:cs typeface="Poppins Bold"/>
                <a:sym typeface="Poppins Bold"/>
              </a:rPr>
              <a:t>BioMistral runs locally — patient data never leaves the clinic</a:t>
            </a:r>
          </a:p>
          <a:p>
            <a:pPr algn="l" marL="496514" indent="-248257" lvl="1">
              <a:lnSpc>
                <a:spcPts val="3219"/>
              </a:lnSpc>
              <a:buFont typeface="Arial"/>
              <a:buChar char="•"/>
            </a:pPr>
            <a:r>
              <a:rPr lang="en-US" b="true" sz="2299">
                <a:solidFill>
                  <a:srgbClr val="191919"/>
                </a:solidFill>
                <a:latin typeface="Poppins Bold"/>
                <a:ea typeface="Poppins Bold"/>
                <a:cs typeface="Poppins Bold"/>
                <a:sym typeface="Poppins Bold"/>
              </a:rPr>
              <a:t>Every action logged with timestamp, IP, and user — fully auditable</a:t>
            </a:r>
          </a:p>
          <a:p>
            <a:pPr algn="l">
              <a:lnSpc>
                <a:spcPts val="3219"/>
              </a:lnSpc>
            </a:pPr>
            <a:r>
              <a:rPr lang="en-US" sz="2299" b="true">
                <a:solidFill>
                  <a:srgbClr val="191919"/>
                </a:solidFill>
                <a:latin typeface="Poppins Bold"/>
                <a:ea typeface="Poppins Bold"/>
                <a:cs typeface="Poppins Bold"/>
                <a:sym typeface="Poppins Bold"/>
              </a:rPr>
              <a:t>The LLM</a:t>
            </a:r>
          </a:p>
          <a:p>
            <a:pPr algn="l" marL="496514" indent="-248257" lvl="1">
              <a:lnSpc>
                <a:spcPts val="3219"/>
              </a:lnSpc>
              <a:buFont typeface="Arial"/>
              <a:buChar char="•"/>
            </a:pPr>
            <a:r>
              <a:rPr lang="en-US" b="true" sz="2299">
                <a:solidFill>
                  <a:srgbClr val="191919"/>
                </a:solidFill>
                <a:latin typeface="Poppins Bold"/>
                <a:ea typeface="Poppins Bold"/>
                <a:cs typeface="Poppins Bold"/>
                <a:sym typeface="Poppins Bold"/>
              </a:rPr>
              <a:t>BioMistral: open-source, biomedical fine-tuned, runs on standard hardware</a:t>
            </a:r>
          </a:p>
          <a:p>
            <a:pPr algn="l" marL="496514" indent="-248257" lvl="1">
              <a:lnSpc>
                <a:spcPts val="3219"/>
              </a:lnSpc>
              <a:buFont typeface="Arial"/>
              <a:buChar char="•"/>
            </a:pPr>
            <a:r>
              <a:rPr lang="en-US" b="true" sz="2299">
                <a:solidFill>
                  <a:srgbClr val="191919"/>
                </a:solidFill>
                <a:latin typeface="Poppins Bold"/>
                <a:ea typeface="Poppins Bold"/>
                <a:cs typeface="Poppins Bold"/>
                <a:sym typeface="Poppins Bold"/>
              </a:rPr>
              <a:t>Assists the doctor with suggestions — does not replace clinical judgment</a:t>
            </a:r>
          </a:p>
          <a:p>
            <a:pPr algn="l">
              <a:lnSpc>
                <a:spcPts val="3219"/>
              </a:lnSpc>
            </a:pPr>
            <a:r>
              <a:rPr lang="en-US" sz="2299" b="true">
                <a:solidFill>
                  <a:srgbClr val="191919"/>
                </a:solidFill>
                <a:latin typeface="Poppins Bold"/>
                <a:ea typeface="Poppins Bold"/>
                <a:cs typeface="Poppins Bold"/>
                <a:sym typeface="Poppins Bold"/>
              </a:rPr>
              <a:t>Results</a:t>
            </a:r>
          </a:p>
          <a:p>
            <a:pPr algn="l" marL="496514" indent="-248257" lvl="1">
              <a:lnSpc>
                <a:spcPts val="3219"/>
              </a:lnSpc>
              <a:buFont typeface="Arial"/>
              <a:buChar char="•"/>
            </a:pPr>
            <a:r>
              <a:rPr lang="en-US" b="true" sz="2299">
                <a:solidFill>
                  <a:srgbClr val="191919"/>
                </a:solidFill>
                <a:latin typeface="Poppins Bold"/>
                <a:ea typeface="Poppins Bold"/>
                <a:cs typeface="Poppins Bold"/>
                <a:sym typeface="Poppins Bold"/>
              </a:rPr>
              <a:t>Centralized, privacy-compliant platform with full traceability</a:t>
            </a:r>
          </a:p>
          <a:p>
            <a:pPr algn="l" marL="496514" indent="-248257" lvl="1">
              <a:lnSpc>
                <a:spcPts val="3219"/>
              </a:lnSpc>
              <a:buFont typeface="Arial"/>
              <a:buChar char="•"/>
            </a:pPr>
            <a:r>
              <a:rPr lang="en-US" b="true" sz="2299">
                <a:solidFill>
                  <a:srgbClr val="191919"/>
                </a:solidFill>
                <a:latin typeface="Poppins Bold"/>
                <a:ea typeface="Poppins Bold"/>
                <a:cs typeface="Poppins Bold"/>
                <a:sym typeface="Poppins Bold"/>
              </a:rPr>
              <a:t>Functional prototype with clear path to production deployment</a:t>
            </a:r>
          </a:p>
          <a:p>
            <a:pPr algn="l">
              <a:lnSpc>
                <a:spcPts val="3219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5363236" y="889854"/>
            <a:ext cx="7272618" cy="1600265"/>
          </a:xfrm>
          <a:custGeom>
            <a:avLst/>
            <a:gdLst/>
            <a:ahLst/>
            <a:cxnLst/>
            <a:rect r="r" b="b" t="t" l="l"/>
            <a:pathLst>
              <a:path h="1600265" w="7272618">
                <a:moveTo>
                  <a:pt x="0" y="0"/>
                </a:moveTo>
                <a:lnTo>
                  <a:pt x="7272618" y="0"/>
                </a:lnTo>
                <a:lnTo>
                  <a:pt x="7272618" y="1600265"/>
                </a:lnTo>
                <a:lnTo>
                  <a:pt x="0" y="160026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-317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674092">
            <a:off x="-5622347" y="7621432"/>
            <a:ext cx="19149891" cy="6989710"/>
          </a:xfrm>
          <a:custGeom>
            <a:avLst/>
            <a:gdLst/>
            <a:ahLst/>
            <a:cxnLst/>
            <a:rect r="r" b="b" t="t" l="l"/>
            <a:pathLst>
              <a:path h="6989710" w="19149891">
                <a:moveTo>
                  <a:pt x="0" y="0"/>
                </a:moveTo>
                <a:lnTo>
                  <a:pt x="19149891" y="0"/>
                </a:lnTo>
                <a:lnTo>
                  <a:pt x="19149891" y="6989710"/>
                </a:lnTo>
                <a:lnTo>
                  <a:pt x="0" y="698971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80000"/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true" flipV="true" rot="828919">
            <a:off x="6424126" y="-4031537"/>
            <a:ext cx="19149891" cy="6989710"/>
          </a:xfrm>
          <a:custGeom>
            <a:avLst/>
            <a:gdLst/>
            <a:ahLst/>
            <a:cxnLst/>
            <a:rect r="r" b="b" t="t" l="l"/>
            <a:pathLst>
              <a:path h="6989710" w="19149891">
                <a:moveTo>
                  <a:pt x="19149891" y="6989710"/>
                </a:moveTo>
                <a:lnTo>
                  <a:pt x="0" y="6989710"/>
                </a:lnTo>
                <a:lnTo>
                  <a:pt x="0" y="0"/>
                </a:lnTo>
                <a:lnTo>
                  <a:pt x="19149891" y="0"/>
                </a:lnTo>
                <a:lnTo>
                  <a:pt x="19149891" y="6989710"/>
                </a:lnTo>
                <a:close/>
              </a:path>
            </a:pathLst>
          </a:custGeom>
          <a:blipFill>
            <a:blip r:embed="rId3">
              <a:alphaModFix amt="43000"/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028700" y="2545780"/>
            <a:ext cx="3141784" cy="1332950"/>
          </a:xfrm>
          <a:custGeom>
            <a:avLst/>
            <a:gdLst/>
            <a:ahLst/>
            <a:cxnLst/>
            <a:rect r="r" b="b" t="t" l="l"/>
            <a:pathLst>
              <a:path h="1332950" w="3141784">
                <a:moveTo>
                  <a:pt x="0" y="0"/>
                </a:moveTo>
                <a:lnTo>
                  <a:pt x="3141784" y="0"/>
                </a:lnTo>
                <a:lnTo>
                  <a:pt x="3141784" y="1332950"/>
                </a:lnTo>
                <a:lnTo>
                  <a:pt x="0" y="133295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10338" t="-9825" r="-9900" b="-14738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3483407" y="2490119"/>
            <a:ext cx="3775893" cy="1444272"/>
          </a:xfrm>
          <a:custGeom>
            <a:avLst/>
            <a:gdLst/>
            <a:ahLst/>
            <a:cxnLst/>
            <a:rect r="r" b="b" t="t" l="l"/>
            <a:pathLst>
              <a:path h="1444272" w="3775893">
                <a:moveTo>
                  <a:pt x="0" y="0"/>
                </a:moveTo>
                <a:lnTo>
                  <a:pt x="3775893" y="0"/>
                </a:lnTo>
                <a:lnTo>
                  <a:pt x="3775893" y="1444272"/>
                </a:lnTo>
                <a:lnTo>
                  <a:pt x="0" y="1444272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-4575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757388" y="9419911"/>
            <a:ext cx="5109189" cy="44133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99"/>
              </a:lnSpc>
            </a:pPr>
            <a:r>
              <a:rPr lang="en-US" sz="2499" b="true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11 March 2025 - 4</a:t>
            </a:r>
            <a:r>
              <a:rPr lang="en-US" sz="2499" b="true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th</a:t>
            </a:r>
            <a:r>
              <a:rPr lang="en-US" sz="2499" b="true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 Meeting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2045650" y="4531942"/>
            <a:ext cx="14196700" cy="104775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199"/>
              </a:lnSpc>
            </a:pPr>
            <a:r>
              <a:rPr lang="en-US" sz="2999" b="true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Artificial Intelligence for Patient Management </a:t>
            </a:r>
          </a:p>
          <a:p>
            <a:pPr algn="ctr">
              <a:lnSpc>
                <a:spcPts val="4199"/>
              </a:lnSpc>
            </a:pPr>
            <a:r>
              <a:rPr lang="en-US" sz="2999" b="true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and Clinical Research in Rheumatology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2045650" y="5765754"/>
            <a:ext cx="14196700" cy="7988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219"/>
              </a:lnSpc>
            </a:pPr>
            <a:r>
              <a:rPr lang="en-US" sz="2299" b="true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Developed by:</a:t>
            </a:r>
          </a:p>
          <a:p>
            <a:pPr algn="ctr">
              <a:lnSpc>
                <a:spcPts val="3219"/>
              </a:lnSpc>
            </a:pPr>
            <a:r>
              <a:rPr lang="en-US" sz="2299" b="true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Mr. Ismail Bakraoui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2045650" y="6803387"/>
            <a:ext cx="14196700" cy="7988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219"/>
              </a:lnSpc>
            </a:pPr>
            <a:r>
              <a:rPr lang="en-US" sz="2299" b="true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Under the supervision of :</a:t>
            </a:r>
          </a:p>
          <a:p>
            <a:pPr algn="ctr">
              <a:lnSpc>
                <a:spcPts val="3219"/>
              </a:lnSpc>
            </a:pPr>
            <a:r>
              <a:rPr lang="en-US" sz="2299" b="true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Dr. Housbane Samy and Dr. Ajbal Khaoula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4354813" y="9419911"/>
            <a:ext cx="3446430" cy="44133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99"/>
              </a:lnSpc>
            </a:pPr>
            <a:r>
              <a:rPr lang="en-US" sz="2499" b="true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EMSI - FMPC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DAHDkOnKg-g</dc:identifier>
  <dcterms:modified xsi:type="dcterms:W3CDTF">2011-08-01T06:04:30Z</dcterms:modified>
  <cp:revision>1</cp:revision>
  <dc:title>PFE - 4</dc:title>
</cp:coreProperties>
</file>