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Open Sans" charset="1" panose="020B0606030504020204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3575" y="1347885"/>
            <a:ext cx="6245725" cy="1369960"/>
          </a:xfrm>
          <a:custGeom>
            <a:avLst/>
            <a:gdLst/>
            <a:ahLst/>
            <a:cxnLst/>
            <a:rect r="r" b="b" t="t" l="l"/>
            <a:pathLst>
              <a:path h="1369960" w="6245725">
                <a:moveTo>
                  <a:pt x="0" y="0"/>
                </a:moveTo>
                <a:lnTo>
                  <a:pt x="6245725" y="0"/>
                </a:lnTo>
                <a:lnTo>
                  <a:pt x="6245725" y="1369960"/>
                </a:lnTo>
                <a:lnTo>
                  <a:pt x="0" y="136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4092">
            <a:off x="-5622347" y="762143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388" y="9419911"/>
            <a:ext cx="5109189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23 February 2025 - 2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nd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Meeting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828919">
            <a:off x="1314936" y="-403153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6316" y="1193624"/>
            <a:ext cx="3956208" cy="1678482"/>
          </a:xfrm>
          <a:custGeom>
            <a:avLst/>
            <a:gdLst/>
            <a:ahLst/>
            <a:cxnLst/>
            <a:rect r="r" b="b" t="t" l="l"/>
            <a:pathLst>
              <a:path h="1678482" w="3956208">
                <a:moveTo>
                  <a:pt x="0" y="0"/>
                </a:moveTo>
                <a:lnTo>
                  <a:pt x="3956208" y="0"/>
                </a:lnTo>
                <a:lnTo>
                  <a:pt x="3956208" y="1678482"/>
                </a:lnTo>
                <a:lnTo>
                  <a:pt x="0" y="167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38" t="-9825" r="-9900" b="-147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5650" y="4531942"/>
            <a:ext cx="14196700" cy="10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for Patient Management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Clinical Research in Rheumatology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5650" y="5765754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Mr. Ismail Bakraoui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650" y="6803387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supervision of 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Housbane Samy and Dr. Ajbal Khaoula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4813" y="9419911"/>
            <a:ext cx="3446430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EMSI - FMPC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4879" y="904875"/>
            <a:ext cx="129758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2646" y="4020818"/>
            <a:ext cx="4655800" cy="1008485"/>
            <a:chOff x="0" y="0"/>
            <a:chExt cx="1226219" cy="265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6219" cy="265609"/>
            </a:xfrm>
            <a:custGeom>
              <a:avLst/>
              <a:gdLst/>
              <a:ahLst/>
              <a:cxnLst/>
              <a:rect r="r" b="b" t="t" l="l"/>
              <a:pathLst>
                <a:path h="265609" w="1226219">
                  <a:moveTo>
                    <a:pt x="0" y="0"/>
                  </a:moveTo>
                  <a:lnTo>
                    <a:pt x="1226219" y="0"/>
                  </a:lnTo>
                  <a:lnTo>
                    <a:pt x="1226219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226219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Frontend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95158" y="4020818"/>
            <a:ext cx="5277026" cy="1008485"/>
            <a:chOff x="0" y="0"/>
            <a:chExt cx="1389834" cy="265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834" cy="265609"/>
            </a:xfrm>
            <a:custGeom>
              <a:avLst/>
              <a:gdLst/>
              <a:ahLst/>
              <a:cxnLst/>
              <a:rect r="r" b="b" t="t" l="l"/>
              <a:pathLst>
                <a:path h="265609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389834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48328" y="4020818"/>
            <a:ext cx="5277026" cy="1008485"/>
            <a:chOff x="0" y="0"/>
            <a:chExt cx="1389834" cy="2656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34" cy="265609"/>
            </a:xfrm>
            <a:custGeom>
              <a:avLst/>
              <a:gdLst/>
              <a:ahLst/>
              <a:cxnLst/>
              <a:rect r="r" b="b" t="t" l="l"/>
              <a:pathLst>
                <a:path h="265609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389834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choice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79933" y="5892308"/>
            <a:ext cx="5277026" cy="1008806"/>
            <a:chOff x="0" y="0"/>
            <a:chExt cx="1389834" cy="2656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9834" cy="265694"/>
            </a:xfrm>
            <a:custGeom>
              <a:avLst/>
              <a:gdLst/>
              <a:ahLst/>
              <a:cxnLst/>
              <a:rect r="r" b="b" t="t" l="l"/>
              <a:pathLst>
                <a:path h="265694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389834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Abstract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09815" y="5892308"/>
            <a:ext cx="5277026" cy="1008806"/>
            <a:chOff x="0" y="0"/>
            <a:chExt cx="1389834" cy="265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34" cy="265694"/>
            </a:xfrm>
            <a:custGeom>
              <a:avLst/>
              <a:gdLst/>
              <a:ahLst/>
              <a:cxnLst/>
              <a:rect r="r" b="b" t="t" l="l"/>
              <a:pathLst>
                <a:path h="265694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389834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Discussion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4728" y="4676775"/>
            <a:ext cx="869854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00111" y="3115310"/>
            <a:ext cx="13687778" cy="399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Key Enhancements:</a:t>
            </a:r>
          </a:p>
          <a:p>
            <a:pPr algn="l">
              <a:lnSpc>
                <a:spcPts val="3220"/>
              </a:lnSpc>
            </a:pP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Visual Consistency: </a:t>
            </a: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Clear fonts, familiar color palette, and icons matching the old system.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Functional Parity: All previous features (patients, appointments, documents, analytics) fully retained.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Responsiveness &amp; Performance: Adaptive layout with smooth transitions and feedback animations.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User Experience: Skeleton loaders, toast notifications, and optimistic UI updates for faster, more fluid interaction.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94728" y="904875"/>
            <a:ext cx="8698544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Points to circle over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2768" y="2167810"/>
            <a:ext cx="12562465" cy="6532482"/>
          </a:xfrm>
          <a:custGeom>
            <a:avLst/>
            <a:gdLst/>
            <a:ahLst/>
            <a:cxnLst/>
            <a:rect r="r" b="b" t="t" l="l"/>
            <a:pathLst>
              <a:path h="6532482" w="12562465">
                <a:moveTo>
                  <a:pt x="0" y="0"/>
                </a:moveTo>
                <a:lnTo>
                  <a:pt x="12562464" y="0"/>
                </a:lnTo>
                <a:lnTo>
                  <a:pt x="12562464" y="6532482"/>
                </a:lnTo>
                <a:lnTo>
                  <a:pt x="0" y="653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94728" y="904875"/>
            <a:ext cx="8698544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Points to circle over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1485" y="4676775"/>
            <a:ext cx="1360503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1485" y="904875"/>
            <a:ext cx="1360503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Points to circle over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34477" y="3101727"/>
            <a:ext cx="13738438" cy="486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Acts as core orchestrator for all services.</a:t>
            </a:r>
          </a:p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Handles: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Fast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API routing (/api/auth, /api/patients, /api/appointments, etc.)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Database access (MySQL)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Features: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JWT-based authentication and RBAC (role-based access control)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Health and metrics endpoints for observability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Tested with Swagger</a:t>
            </a:r>
          </a:p>
          <a:p>
            <a:pPr algn="l">
              <a:lnSpc>
                <a:spcPts val="416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76031" y="2027051"/>
            <a:ext cx="10335937" cy="6782959"/>
          </a:xfrm>
          <a:custGeom>
            <a:avLst/>
            <a:gdLst/>
            <a:ahLst/>
            <a:cxnLst/>
            <a:rect r="r" b="b" t="t" l="l"/>
            <a:pathLst>
              <a:path h="6782959" w="10335937">
                <a:moveTo>
                  <a:pt x="0" y="0"/>
                </a:moveTo>
                <a:lnTo>
                  <a:pt x="10335938" y="0"/>
                </a:lnTo>
                <a:lnTo>
                  <a:pt x="10335938" y="6782959"/>
                </a:lnTo>
                <a:lnTo>
                  <a:pt x="0" y="6782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41485" y="904875"/>
            <a:ext cx="1360503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Points to circle over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9205" y="2383700"/>
            <a:ext cx="13929590" cy="5519600"/>
          </a:xfrm>
          <a:custGeom>
            <a:avLst/>
            <a:gdLst/>
            <a:ahLst/>
            <a:cxnLst/>
            <a:rect r="r" b="b" t="t" l="l"/>
            <a:pathLst>
              <a:path h="5519600" w="13929590">
                <a:moveTo>
                  <a:pt x="0" y="0"/>
                </a:moveTo>
                <a:lnTo>
                  <a:pt x="13929590" y="0"/>
                </a:lnTo>
                <a:lnTo>
                  <a:pt x="13929590" y="5519600"/>
                </a:lnTo>
                <a:lnTo>
                  <a:pt x="0" y="551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41485" y="904875"/>
            <a:ext cx="1360503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Points to circle over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Model choice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8100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Why Biomistral?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30953" y="3831361"/>
            <a:ext cx="6626095" cy="326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Domain-Native Intelligence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Secure Local Deployment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Optimized for Clinical Decision Support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Scalabl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 on Hospital Infrastructure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Cost-Effective &amp; Sustainable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Fully Customizable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Strategic Independence</a:t>
            </a:r>
          </a:p>
          <a:p>
            <a:pPr algn="l">
              <a:lnSpc>
                <a:spcPts val="4163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43366" y="1689855"/>
            <a:ext cx="8201268" cy="6907290"/>
          </a:xfrm>
          <a:custGeom>
            <a:avLst/>
            <a:gdLst/>
            <a:ahLst/>
            <a:cxnLst/>
            <a:rect r="r" b="b" t="t" l="l"/>
            <a:pathLst>
              <a:path h="6907290" w="8201268">
                <a:moveTo>
                  <a:pt x="0" y="0"/>
                </a:moveTo>
                <a:lnTo>
                  <a:pt x="8201268" y="0"/>
                </a:lnTo>
                <a:lnTo>
                  <a:pt x="8201268" y="6907290"/>
                </a:lnTo>
                <a:lnTo>
                  <a:pt x="0" y="6907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 &amp; Suggestions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3575" y="1347885"/>
            <a:ext cx="6245725" cy="1369960"/>
          </a:xfrm>
          <a:custGeom>
            <a:avLst/>
            <a:gdLst/>
            <a:ahLst/>
            <a:cxnLst/>
            <a:rect r="r" b="b" t="t" l="l"/>
            <a:pathLst>
              <a:path h="1369960" w="6245725">
                <a:moveTo>
                  <a:pt x="0" y="0"/>
                </a:moveTo>
                <a:lnTo>
                  <a:pt x="6245725" y="0"/>
                </a:lnTo>
                <a:lnTo>
                  <a:pt x="6245725" y="1369960"/>
                </a:lnTo>
                <a:lnTo>
                  <a:pt x="0" y="136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4092">
            <a:off x="-5622347" y="762143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388" y="9419911"/>
            <a:ext cx="5109189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23 February 2025 - 2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nd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Meeting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828919">
            <a:off x="1314936" y="-403153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6316" y="1193624"/>
            <a:ext cx="3956208" cy="1678482"/>
          </a:xfrm>
          <a:custGeom>
            <a:avLst/>
            <a:gdLst/>
            <a:ahLst/>
            <a:cxnLst/>
            <a:rect r="r" b="b" t="t" l="l"/>
            <a:pathLst>
              <a:path h="1678482" w="3956208">
                <a:moveTo>
                  <a:pt x="0" y="0"/>
                </a:moveTo>
                <a:lnTo>
                  <a:pt x="3956208" y="0"/>
                </a:lnTo>
                <a:lnTo>
                  <a:pt x="3956208" y="1678482"/>
                </a:lnTo>
                <a:lnTo>
                  <a:pt x="0" y="167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38" t="-9825" r="-9900" b="-147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5650" y="4531942"/>
            <a:ext cx="14196700" cy="10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for Patient Management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Clinical Research in Rheumatology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5650" y="5765754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Mr. Ismail Bakraoui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650" y="6803387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supervision of 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Housbane Samy and Dr. Ajbal Khaoula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4813" y="9419911"/>
            <a:ext cx="3446430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EMSI - FMPC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DAHCIohmJz4</dc:identifier>
  <dcterms:modified xsi:type="dcterms:W3CDTF">2011-08-01T06:04:30Z</dcterms:modified>
  <cp:revision>1</cp:revision>
  <dc:title>PFE - 2</dc:title>
</cp:coreProperties>
</file>