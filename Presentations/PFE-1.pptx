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Poppins Bold" charset="1" panose="00000800000000000000"/>
      <p:regular r:id="rId28"/>
    </p:embeddedFont>
    <p:embeddedFont>
      <p:font typeface="Open Sans" charset="1" panose="020B0606030504020204"/>
      <p:regular r:id="rId29"/>
    </p:embeddedFont>
    <p:embeddedFont>
      <p:font typeface="Poppins" charset="1" panose="000005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13575" y="1347885"/>
            <a:ext cx="6245725" cy="1369960"/>
          </a:xfrm>
          <a:custGeom>
            <a:avLst/>
            <a:gdLst/>
            <a:ahLst/>
            <a:cxnLst/>
            <a:rect r="r" b="b" t="t" l="l"/>
            <a:pathLst>
              <a:path h="1369960" w="6245725">
                <a:moveTo>
                  <a:pt x="0" y="0"/>
                </a:moveTo>
                <a:lnTo>
                  <a:pt x="6245725" y="0"/>
                </a:lnTo>
                <a:lnTo>
                  <a:pt x="6245725" y="1369960"/>
                </a:lnTo>
                <a:lnTo>
                  <a:pt x="0" y="13699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674092">
            <a:off x="-5622347" y="7621432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57388" y="9419911"/>
            <a:ext cx="4925136" cy="441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16 February 2025 - 1</a:t>
            </a: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</a:t>
            </a: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Meeting</a:t>
            </a:r>
          </a:p>
        </p:txBody>
      </p:sp>
      <p:sp>
        <p:nvSpPr>
          <p:cNvPr name="Freeform 5" id="5"/>
          <p:cNvSpPr/>
          <p:nvPr/>
        </p:nvSpPr>
        <p:spPr>
          <a:xfrm flipH="true" flipV="true" rot="828919">
            <a:off x="1314936" y="-4031537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19149891" y="6989710"/>
                </a:moveTo>
                <a:lnTo>
                  <a:pt x="0" y="6989710"/>
                </a:lnTo>
                <a:lnTo>
                  <a:pt x="0" y="0"/>
                </a:lnTo>
                <a:lnTo>
                  <a:pt x="19149891" y="0"/>
                </a:lnTo>
                <a:lnTo>
                  <a:pt x="19149891" y="6989710"/>
                </a:lnTo>
                <a:close/>
              </a:path>
            </a:pathLst>
          </a:custGeom>
          <a:blipFill>
            <a:blip r:embed="rId3">
              <a:alphaModFix amt="43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26316" y="1193624"/>
            <a:ext cx="3956208" cy="1678482"/>
          </a:xfrm>
          <a:custGeom>
            <a:avLst/>
            <a:gdLst/>
            <a:ahLst/>
            <a:cxnLst/>
            <a:rect r="r" b="b" t="t" l="l"/>
            <a:pathLst>
              <a:path h="1678482" w="3956208">
                <a:moveTo>
                  <a:pt x="0" y="0"/>
                </a:moveTo>
                <a:lnTo>
                  <a:pt x="3956208" y="0"/>
                </a:lnTo>
                <a:lnTo>
                  <a:pt x="3956208" y="1678482"/>
                </a:lnTo>
                <a:lnTo>
                  <a:pt x="0" y="16784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338" t="-9825" r="-9900" b="-14738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45650" y="4531942"/>
            <a:ext cx="14196700" cy="104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Artificial Intelligence for Patient Management </a:t>
            </a:r>
          </a:p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and Clinical Research in Rheumatology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45650" y="5765754"/>
            <a:ext cx="14196700" cy="798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Developed by:</a:t>
            </a:r>
          </a:p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Mr. Ismail Bakraoui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45650" y="6803387"/>
            <a:ext cx="14196700" cy="798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Under the supervision of :</a:t>
            </a:r>
          </a:p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Dr. Housbane Samy and Dr. Ajbal Khaoula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354813" y="9419911"/>
            <a:ext cx="3446430" cy="441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EMSI - FMPC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84879" y="904875"/>
            <a:ext cx="1297584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4500" spc="-8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Plan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62646" y="4020818"/>
            <a:ext cx="4655800" cy="1008485"/>
            <a:chOff x="0" y="0"/>
            <a:chExt cx="1226219" cy="2656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26219" cy="265609"/>
            </a:xfrm>
            <a:custGeom>
              <a:avLst/>
              <a:gdLst/>
              <a:ahLst/>
              <a:cxnLst/>
              <a:rect r="r" b="b" t="t" l="l"/>
              <a:pathLst>
                <a:path h="265609" w="1226219">
                  <a:moveTo>
                    <a:pt x="0" y="0"/>
                  </a:moveTo>
                  <a:lnTo>
                    <a:pt x="1226219" y="0"/>
                  </a:lnTo>
                  <a:lnTo>
                    <a:pt x="1226219" y="265609"/>
                  </a:lnTo>
                  <a:lnTo>
                    <a:pt x="0" y="265609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226219" cy="284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Problem Statement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295158" y="4020818"/>
            <a:ext cx="5277026" cy="1008485"/>
            <a:chOff x="0" y="0"/>
            <a:chExt cx="1389834" cy="2656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89834" cy="265609"/>
            </a:xfrm>
            <a:custGeom>
              <a:avLst/>
              <a:gdLst/>
              <a:ahLst/>
              <a:cxnLst/>
              <a:rect r="r" b="b" t="t" l="l"/>
              <a:pathLst>
                <a:path h="265609" w="1389834">
                  <a:moveTo>
                    <a:pt x="0" y="0"/>
                  </a:moveTo>
                  <a:lnTo>
                    <a:pt x="1389834" y="0"/>
                  </a:lnTo>
                  <a:lnTo>
                    <a:pt x="1389834" y="265609"/>
                  </a:lnTo>
                  <a:lnTo>
                    <a:pt x="0" y="265609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389834" cy="284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Objectives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948328" y="4020818"/>
            <a:ext cx="5277026" cy="1008485"/>
            <a:chOff x="0" y="0"/>
            <a:chExt cx="1389834" cy="26560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89834" cy="265609"/>
            </a:xfrm>
            <a:custGeom>
              <a:avLst/>
              <a:gdLst/>
              <a:ahLst/>
              <a:cxnLst/>
              <a:rect r="r" b="b" t="t" l="l"/>
              <a:pathLst>
                <a:path h="265609" w="1389834">
                  <a:moveTo>
                    <a:pt x="0" y="0"/>
                  </a:moveTo>
                  <a:lnTo>
                    <a:pt x="1389834" y="0"/>
                  </a:lnTo>
                  <a:lnTo>
                    <a:pt x="1389834" y="265609"/>
                  </a:lnTo>
                  <a:lnTo>
                    <a:pt x="0" y="265609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389834" cy="284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Choice of technologies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295158" y="6396711"/>
            <a:ext cx="5277026" cy="1008806"/>
            <a:chOff x="0" y="0"/>
            <a:chExt cx="1389834" cy="26569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89834" cy="265694"/>
            </a:xfrm>
            <a:custGeom>
              <a:avLst/>
              <a:gdLst/>
              <a:ahLst/>
              <a:cxnLst/>
              <a:rect r="r" b="b" t="t" l="l"/>
              <a:pathLst>
                <a:path h="265694" w="1389834">
                  <a:moveTo>
                    <a:pt x="0" y="0"/>
                  </a:moveTo>
                  <a:lnTo>
                    <a:pt x="1389834" y="0"/>
                  </a:lnTo>
                  <a:lnTo>
                    <a:pt x="1389834" y="265694"/>
                  </a:lnTo>
                  <a:lnTo>
                    <a:pt x="0" y="265694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389834" cy="2847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DEMO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948328" y="6396711"/>
            <a:ext cx="5277026" cy="1008806"/>
            <a:chOff x="0" y="0"/>
            <a:chExt cx="1389834" cy="26569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89834" cy="265694"/>
            </a:xfrm>
            <a:custGeom>
              <a:avLst/>
              <a:gdLst/>
              <a:ahLst/>
              <a:cxnLst/>
              <a:rect r="r" b="b" t="t" l="l"/>
              <a:pathLst>
                <a:path h="265694" w="1389834">
                  <a:moveTo>
                    <a:pt x="0" y="0"/>
                  </a:moveTo>
                  <a:lnTo>
                    <a:pt x="1389834" y="0"/>
                  </a:lnTo>
                  <a:lnTo>
                    <a:pt x="1389834" y="265694"/>
                  </a:lnTo>
                  <a:lnTo>
                    <a:pt x="0" y="265694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389834" cy="2847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Discussion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62646" y="6396711"/>
            <a:ext cx="4655800" cy="1008806"/>
            <a:chOff x="0" y="0"/>
            <a:chExt cx="1226219" cy="26569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26219" cy="265694"/>
            </a:xfrm>
            <a:custGeom>
              <a:avLst/>
              <a:gdLst/>
              <a:ahLst/>
              <a:cxnLst/>
              <a:rect r="r" b="b" t="t" l="l"/>
              <a:pathLst>
                <a:path h="265694" w="1226219">
                  <a:moveTo>
                    <a:pt x="0" y="0"/>
                  </a:moveTo>
                  <a:lnTo>
                    <a:pt x="1226219" y="0"/>
                  </a:lnTo>
                  <a:lnTo>
                    <a:pt x="1226219" y="265694"/>
                  </a:lnTo>
                  <a:lnTo>
                    <a:pt x="0" y="265694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226219" cy="2847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AI Implications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94728" y="4676775"/>
            <a:ext cx="8698544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4500" spc="-8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300111" y="4515485"/>
            <a:ext cx="13687778" cy="119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Rheumatologists</a:t>
            </a:r>
            <a:r>
              <a:rPr lang="en-US" sz="23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 face challenges in analyzing large and complex patient data from electronic records, making diagnosis, treatment decisions, and research time-consuming and error-prone.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794728" y="904875"/>
            <a:ext cx="8698544" cy="72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00"/>
              </a:lnSpc>
              <a:spcBef>
                <a:spcPct val="0"/>
              </a:spcBef>
            </a:pPr>
            <a:r>
              <a:rPr lang="en-US" b="true" sz="4000" spc="-80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23929" y="4171626"/>
            <a:ext cx="1943749" cy="1943749"/>
          </a:xfrm>
          <a:custGeom>
            <a:avLst/>
            <a:gdLst/>
            <a:ahLst/>
            <a:cxnLst/>
            <a:rect r="r" b="b" t="t" l="l"/>
            <a:pathLst>
              <a:path h="1943749" w="1943749">
                <a:moveTo>
                  <a:pt x="0" y="0"/>
                </a:moveTo>
                <a:lnTo>
                  <a:pt x="1943749" y="0"/>
                </a:lnTo>
                <a:lnTo>
                  <a:pt x="1943749" y="1943748"/>
                </a:lnTo>
                <a:lnTo>
                  <a:pt x="0" y="19437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181813" y="4191000"/>
            <a:ext cx="1924374" cy="1924374"/>
          </a:xfrm>
          <a:custGeom>
            <a:avLst/>
            <a:gdLst/>
            <a:ahLst/>
            <a:cxnLst/>
            <a:rect r="r" b="b" t="t" l="l"/>
            <a:pathLst>
              <a:path h="1924374" w="1924374">
                <a:moveTo>
                  <a:pt x="0" y="0"/>
                </a:moveTo>
                <a:lnTo>
                  <a:pt x="1924374" y="0"/>
                </a:lnTo>
                <a:lnTo>
                  <a:pt x="1924374" y="1924374"/>
                </a:lnTo>
                <a:lnTo>
                  <a:pt x="0" y="19243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179527" y="4191000"/>
            <a:ext cx="1924374" cy="1924374"/>
          </a:xfrm>
          <a:custGeom>
            <a:avLst/>
            <a:gdLst/>
            <a:ahLst/>
            <a:cxnLst/>
            <a:rect r="r" b="b" t="t" l="l"/>
            <a:pathLst>
              <a:path h="1924374" w="1924374">
                <a:moveTo>
                  <a:pt x="0" y="0"/>
                </a:moveTo>
                <a:lnTo>
                  <a:pt x="1924374" y="0"/>
                </a:lnTo>
                <a:lnTo>
                  <a:pt x="1924374" y="1924374"/>
                </a:lnTo>
                <a:lnTo>
                  <a:pt x="0" y="19243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794728" y="904875"/>
            <a:ext cx="8698544" cy="72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00"/>
              </a:lnSpc>
              <a:spcBef>
                <a:spcPct val="0"/>
              </a:spcBef>
            </a:pPr>
            <a:r>
              <a:rPr lang="en-US" b="true" sz="4000" spc="-80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1113" y="6715301"/>
            <a:ext cx="4569381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In</a:t>
            </a:r>
            <a:r>
              <a:rPr lang="en-US" sz="20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efficient use of medical resources 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and time.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209175" y="6715301"/>
            <a:ext cx="3869650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0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elayed or incorrect diagnosis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995428" y="6715301"/>
            <a:ext cx="6292572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Miss</a:t>
            </a:r>
            <a:r>
              <a:rPr lang="en-US" sz="20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ed opportunities for clinical research and discovery.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341485" y="4676775"/>
            <a:ext cx="1360503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4500" spc="-8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341485" y="904875"/>
            <a:ext cx="13605030" cy="72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00"/>
              </a:lnSpc>
              <a:spcBef>
                <a:spcPct val="0"/>
              </a:spcBef>
            </a:pPr>
            <a:r>
              <a:rPr lang="en-US" b="true" sz="4000" spc="-80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520862" y="3535235"/>
            <a:ext cx="11246276" cy="3130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-55" b="true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To develop an AI-based system that:</a:t>
            </a:r>
          </a:p>
          <a:p>
            <a:pPr algn="l">
              <a:lnSpc>
                <a:spcPts val="3639"/>
              </a:lnSpc>
            </a:pPr>
          </a:p>
          <a:p>
            <a:pPr algn="l">
              <a:lnSpc>
                <a:spcPts val="3639"/>
              </a:lnSpc>
            </a:pPr>
          </a:p>
          <a:p>
            <a:pPr algn="l" marL="561337" indent="-280669" lvl="1">
              <a:lnSpc>
                <a:spcPts val="4705"/>
              </a:lnSpc>
              <a:buFont typeface="Arial"/>
              <a:buChar char="•"/>
            </a:pPr>
            <a:r>
              <a:rPr lang="en-US" b="true" sz="2599" spc="-51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599" spc="-51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Analyzes rheumatology patient records</a:t>
            </a:r>
          </a:p>
          <a:p>
            <a:pPr algn="l" marL="561337" indent="-280669" lvl="1">
              <a:lnSpc>
                <a:spcPts val="4705"/>
              </a:lnSpc>
              <a:buFont typeface="Arial"/>
              <a:buChar char="•"/>
            </a:pPr>
            <a:r>
              <a:rPr lang="en-US" sz="2599" spc="-51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Supports clinicians in diagnosis and treatment decisions</a:t>
            </a:r>
          </a:p>
          <a:p>
            <a:pPr algn="l" marL="561337" indent="-280669" lvl="1">
              <a:lnSpc>
                <a:spcPts val="4705"/>
              </a:lnSpc>
              <a:buFont typeface="Arial"/>
              <a:buChar char="•"/>
            </a:pPr>
            <a:r>
              <a:rPr lang="en-US" sz="2599" spc="-51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Facilitates clinical research to improve patient care and outcomes.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13639" y="4676775"/>
            <a:ext cx="13460722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4500" spc="-8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Choice of technologies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45820" y="2601476"/>
            <a:ext cx="4996361" cy="1078906"/>
          </a:xfrm>
          <a:custGeom>
            <a:avLst/>
            <a:gdLst/>
            <a:ahLst/>
            <a:cxnLst/>
            <a:rect r="r" b="b" t="t" l="l"/>
            <a:pathLst>
              <a:path h="1078906" w="4996361">
                <a:moveTo>
                  <a:pt x="0" y="0"/>
                </a:moveTo>
                <a:lnTo>
                  <a:pt x="4996360" y="0"/>
                </a:lnTo>
                <a:lnTo>
                  <a:pt x="4996360" y="1078905"/>
                </a:lnTo>
                <a:lnTo>
                  <a:pt x="0" y="10789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9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13639" y="904875"/>
            <a:ext cx="13460722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4500" spc="-8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VM isolation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97998" y="5654698"/>
            <a:ext cx="4929288" cy="2487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spc="-39" b="true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Role - VM isolation </a:t>
            </a:r>
          </a:p>
          <a:p>
            <a:pPr algn="l">
              <a:lnSpc>
                <a:spcPts val="2799"/>
              </a:lnSpc>
            </a:pPr>
          </a:p>
          <a:p>
            <a:pPr algn="l" marL="431799" indent="-215899" lvl="1">
              <a:lnSpc>
                <a:spcPts val="3619"/>
              </a:lnSpc>
              <a:buFont typeface="Arial"/>
              <a:buChar char="•"/>
            </a:pPr>
            <a:r>
              <a:rPr lang="en-US" sz="1999" spc="-3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1999" spc="-3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edium complexity </a:t>
            </a:r>
          </a:p>
          <a:p>
            <a:pPr algn="l" marL="431799" indent="-215899" lvl="1">
              <a:lnSpc>
                <a:spcPts val="3619"/>
              </a:lnSpc>
              <a:buFont typeface="Arial"/>
              <a:buChar char="•"/>
            </a:pPr>
            <a:r>
              <a:rPr lang="en-US" sz="1999" spc="-3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Moderate Hardware demand</a:t>
            </a:r>
          </a:p>
          <a:p>
            <a:pPr algn="l" marL="431799" indent="-215899" lvl="1">
              <a:lnSpc>
                <a:spcPts val="3619"/>
              </a:lnSpc>
              <a:buFont typeface="Arial"/>
              <a:buChar char="•"/>
            </a:pPr>
            <a:r>
              <a:rPr lang="en-US" sz="1999" spc="-3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Feasibility in a 6 month period</a:t>
            </a:r>
          </a:p>
          <a:p>
            <a:pPr algn="l" marL="431799" indent="-215899" lvl="1">
              <a:lnSpc>
                <a:spcPts val="3619"/>
              </a:lnSpc>
              <a:buFont typeface="Arial"/>
              <a:buChar char="•"/>
            </a:pPr>
            <a:r>
              <a:rPr lang="en-US" sz="1999" spc="-3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Offes buil-in snapshots functionality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233842" y="5654698"/>
            <a:ext cx="3820316" cy="2487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spc="-39" b="true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Metrics </a:t>
            </a:r>
          </a:p>
          <a:p>
            <a:pPr algn="l">
              <a:lnSpc>
                <a:spcPts val="2799"/>
              </a:lnSpc>
            </a:pPr>
          </a:p>
          <a:p>
            <a:pPr algn="l" marL="431799" indent="-215899" lvl="1">
              <a:lnSpc>
                <a:spcPts val="3619"/>
              </a:lnSpc>
              <a:buFont typeface="Arial"/>
              <a:buChar char="•"/>
            </a:pPr>
            <a:r>
              <a:rPr lang="en-US" sz="1999" spc="-3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VM startup time</a:t>
            </a:r>
          </a:p>
          <a:p>
            <a:pPr algn="l" marL="431799" indent="-215899" lvl="1">
              <a:lnSpc>
                <a:spcPts val="3619"/>
              </a:lnSpc>
              <a:buFont typeface="Arial"/>
              <a:buChar char="•"/>
            </a:pPr>
            <a:r>
              <a:rPr lang="en-US" sz="1999" spc="-3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CPU overhead </a:t>
            </a:r>
          </a:p>
          <a:p>
            <a:pPr algn="l" marL="431799" indent="-215899" lvl="1">
              <a:lnSpc>
                <a:spcPts val="3619"/>
              </a:lnSpc>
              <a:buFont typeface="Arial"/>
              <a:buChar char="•"/>
            </a:pPr>
            <a:r>
              <a:rPr lang="en-US" sz="1999" spc="-3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memory overhead </a:t>
            </a:r>
          </a:p>
          <a:p>
            <a:pPr algn="l" marL="431799" indent="-215899" lvl="1">
              <a:lnSpc>
                <a:spcPts val="3619"/>
              </a:lnSpc>
              <a:buFont typeface="Arial"/>
              <a:buChar char="•"/>
            </a:pPr>
            <a:r>
              <a:rPr lang="en-US" sz="1999" spc="-3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Recovery Time (VM restore)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895905" y="5654698"/>
            <a:ext cx="3820316" cy="212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spc="-39" b="true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Our case </a:t>
            </a:r>
          </a:p>
          <a:p>
            <a:pPr algn="l">
              <a:lnSpc>
                <a:spcPts val="2799"/>
              </a:lnSpc>
            </a:pP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-3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On-premise hospital ser</a:t>
            </a:r>
            <a:r>
              <a:rPr lang="en-US" sz="1999" spc="-3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ver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-3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Limited number of services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-3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Controlled users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-39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No public internet exposure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81124" y="2734090"/>
            <a:ext cx="2525752" cy="2409410"/>
          </a:xfrm>
          <a:custGeom>
            <a:avLst/>
            <a:gdLst/>
            <a:ahLst/>
            <a:cxnLst/>
            <a:rect r="r" b="b" t="t" l="l"/>
            <a:pathLst>
              <a:path h="2409410" w="2525752">
                <a:moveTo>
                  <a:pt x="0" y="0"/>
                </a:moveTo>
                <a:lnTo>
                  <a:pt x="2525752" y="0"/>
                </a:lnTo>
                <a:lnTo>
                  <a:pt x="2525752" y="2409410"/>
                </a:lnTo>
                <a:lnTo>
                  <a:pt x="0" y="24094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639" t="0" r="-25025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13639" y="904875"/>
            <a:ext cx="13460722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4500" spc="-8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Database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521187" y="5625944"/>
            <a:ext cx="5533527" cy="2673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-55" b="true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Role - Database layer </a:t>
            </a:r>
          </a:p>
          <a:p>
            <a:pPr algn="l">
              <a:lnSpc>
                <a:spcPts val="3639"/>
              </a:lnSpc>
            </a:pPr>
          </a:p>
          <a:p>
            <a:pPr algn="l" marL="561337" indent="-280669" lvl="1">
              <a:lnSpc>
                <a:spcPts val="4705"/>
              </a:lnSpc>
              <a:buFont typeface="Arial"/>
              <a:buChar char="•"/>
            </a:pPr>
            <a:r>
              <a:rPr lang="en-US" sz="2599" spc="-51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Low </a:t>
            </a:r>
            <a:r>
              <a:rPr lang="en-US" sz="2599" spc="-51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complexity </a:t>
            </a:r>
          </a:p>
          <a:p>
            <a:pPr algn="l" marL="561337" indent="-280669" lvl="1">
              <a:lnSpc>
                <a:spcPts val="4705"/>
              </a:lnSpc>
              <a:buFont typeface="Arial"/>
              <a:buChar char="•"/>
            </a:pPr>
            <a:r>
              <a:rPr lang="en-US" sz="2599" spc="-51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Moderate Hardware demand</a:t>
            </a:r>
          </a:p>
          <a:p>
            <a:pPr algn="l" marL="561337" indent="-280669" lvl="1">
              <a:lnSpc>
                <a:spcPts val="4705"/>
              </a:lnSpc>
              <a:buFont typeface="Arial"/>
              <a:buChar char="•"/>
            </a:pPr>
            <a:r>
              <a:rPr lang="en-US" sz="2599" spc="-51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Feasibility in a 6 month period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292325" y="5625944"/>
            <a:ext cx="11246276" cy="326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-55" b="true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Evaluation Criteria</a:t>
            </a:r>
          </a:p>
          <a:p>
            <a:pPr algn="l">
              <a:lnSpc>
                <a:spcPts val="3639"/>
              </a:lnSpc>
            </a:pPr>
          </a:p>
          <a:p>
            <a:pPr algn="l" marL="561337" indent="-280669" lvl="1">
              <a:lnSpc>
                <a:spcPts val="4705"/>
              </a:lnSpc>
              <a:buFont typeface="Arial"/>
              <a:buChar char="•"/>
            </a:pPr>
            <a:r>
              <a:rPr lang="en-US" sz="2599" spc="-51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Acid Compliance</a:t>
            </a:r>
          </a:p>
          <a:p>
            <a:pPr algn="l" marL="561337" indent="-280669" lvl="1">
              <a:lnSpc>
                <a:spcPts val="4705"/>
              </a:lnSpc>
              <a:buFont typeface="Arial"/>
              <a:buChar char="•"/>
            </a:pPr>
            <a:r>
              <a:rPr lang="en-US" sz="2599" spc="-51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Transaction latency</a:t>
            </a:r>
          </a:p>
          <a:p>
            <a:pPr algn="l" marL="561337" indent="-280669" lvl="1">
              <a:lnSpc>
                <a:spcPts val="4705"/>
              </a:lnSpc>
              <a:buFont typeface="Arial"/>
              <a:buChar char="•"/>
            </a:pPr>
            <a:r>
              <a:rPr lang="en-US" sz="2599" spc="-51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Query execution time</a:t>
            </a:r>
          </a:p>
          <a:p>
            <a:pPr algn="l" marL="561337" indent="-280669" lvl="1">
              <a:lnSpc>
                <a:spcPts val="4705"/>
              </a:lnSpc>
              <a:buFont typeface="Arial"/>
              <a:buChar char="•"/>
            </a:pPr>
            <a:r>
              <a:rPr lang="en-US" sz="2599" spc="-51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Schema flexibility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64765" y="3299958"/>
            <a:ext cx="4389800" cy="1167928"/>
          </a:xfrm>
          <a:custGeom>
            <a:avLst/>
            <a:gdLst/>
            <a:ahLst/>
            <a:cxnLst/>
            <a:rect r="r" b="b" t="t" l="l"/>
            <a:pathLst>
              <a:path h="1167928" w="4389800">
                <a:moveTo>
                  <a:pt x="0" y="0"/>
                </a:moveTo>
                <a:lnTo>
                  <a:pt x="4389800" y="0"/>
                </a:lnTo>
                <a:lnTo>
                  <a:pt x="4389800" y="1167928"/>
                </a:lnTo>
                <a:lnTo>
                  <a:pt x="0" y="11679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341280" y="2614820"/>
            <a:ext cx="2760594" cy="2348928"/>
          </a:xfrm>
          <a:custGeom>
            <a:avLst/>
            <a:gdLst/>
            <a:ahLst/>
            <a:cxnLst/>
            <a:rect r="r" b="b" t="t" l="l"/>
            <a:pathLst>
              <a:path h="2348928" w="2760594">
                <a:moveTo>
                  <a:pt x="0" y="0"/>
                </a:moveTo>
                <a:lnTo>
                  <a:pt x="2760595" y="0"/>
                </a:lnTo>
                <a:lnTo>
                  <a:pt x="2760595" y="2348928"/>
                </a:lnTo>
                <a:lnTo>
                  <a:pt x="0" y="23489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9005" t="0" r="-22807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13639" y="904875"/>
            <a:ext cx="13460722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4500" spc="-8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Semantic retrieval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64765" y="4972661"/>
            <a:ext cx="5533527" cy="326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-55" b="true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Role - Semantic retrieval </a:t>
            </a:r>
          </a:p>
          <a:p>
            <a:pPr algn="l">
              <a:lnSpc>
                <a:spcPts val="3639"/>
              </a:lnSpc>
            </a:pPr>
          </a:p>
          <a:p>
            <a:pPr algn="l" marL="561337" indent="-280669" lvl="1">
              <a:lnSpc>
                <a:spcPts val="4705"/>
              </a:lnSpc>
              <a:buFont typeface="Arial"/>
              <a:buChar char="•"/>
            </a:pPr>
            <a:r>
              <a:rPr lang="en-US" sz="2599" spc="-51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Medium </a:t>
            </a:r>
            <a:r>
              <a:rPr lang="en-US" sz="2599" spc="-51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complexity </a:t>
            </a:r>
          </a:p>
          <a:p>
            <a:pPr algn="l" marL="561337" indent="-280669" lvl="1">
              <a:lnSpc>
                <a:spcPts val="4705"/>
              </a:lnSpc>
              <a:buFont typeface="Arial"/>
              <a:buChar char="•"/>
            </a:pPr>
            <a:r>
              <a:rPr lang="en-US" sz="2599" spc="-51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Advanced Filtering</a:t>
            </a:r>
          </a:p>
          <a:p>
            <a:pPr algn="l" marL="561337" indent="-280669" lvl="1">
              <a:lnSpc>
                <a:spcPts val="4705"/>
              </a:lnSpc>
              <a:buFont typeface="Arial"/>
              <a:buChar char="•"/>
            </a:pPr>
            <a:r>
              <a:rPr lang="en-US" sz="2599" spc="-51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Scalability</a:t>
            </a:r>
          </a:p>
          <a:p>
            <a:pPr algn="l" marL="561337" indent="-280669" lvl="1">
              <a:lnSpc>
                <a:spcPts val="4705"/>
              </a:lnSpc>
              <a:buFont typeface="Arial"/>
              <a:buChar char="•"/>
            </a:pPr>
            <a:r>
              <a:rPr lang="en-US" sz="2599" spc="-51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Moderate Hardware demand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525511" y="4972661"/>
            <a:ext cx="5533527" cy="326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-55" b="true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Role - Semantic retrieval </a:t>
            </a:r>
          </a:p>
          <a:p>
            <a:pPr algn="l">
              <a:lnSpc>
                <a:spcPts val="3639"/>
              </a:lnSpc>
            </a:pPr>
          </a:p>
          <a:p>
            <a:pPr algn="l" marL="561337" indent="-280669" lvl="1">
              <a:lnSpc>
                <a:spcPts val="4705"/>
              </a:lnSpc>
              <a:buFont typeface="Arial"/>
              <a:buChar char="•"/>
            </a:pPr>
            <a:r>
              <a:rPr lang="en-US" sz="2599" spc="-51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Low </a:t>
            </a:r>
            <a:r>
              <a:rPr lang="en-US" sz="2599" spc="-51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complexity </a:t>
            </a:r>
          </a:p>
          <a:p>
            <a:pPr algn="l" marL="561337" indent="-280669" lvl="1">
              <a:lnSpc>
                <a:spcPts val="4705"/>
              </a:lnSpc>
              <a:buFont typeface="Arial"/>
              <a:buChar char="•"/>
            </a:pPr>
            <a:r>
              <a:rPr lang="en-US" sz="2599" spc="-51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low Hardware demand</a:t>
            </a:r>
          </a:p>
          <a:p>
            <a:pPr algn="l" marL="561337" indent="-280669" lvl="1">
              <a:lnSpc>
                <a:spcPts val="4705"/>
              </a:lnSpc>
              <a:buFont typeface="Arial"/>
              <a:buChar char="•"/>
            </a:pPr>
            <a:r>
              <a:rPr lang="en-US" sz="2599" spc="-51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Easier integration</a:t>
            </a:r>
          </a:p>
          <a:p>
            <a:pPr algn="l" marL="561337" indent="-280669" lvl="1">
              <a:lnSpc>
                <a:spcPts val="4705"/>
              </a:lnSpc>
              <a:buFont typeface="Arial"/>
              <a:buChar char="•"/>
            </a:pPr>
            <a:r>
              <a:rPr lang="en-US" sz="2599" spc="-51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Higher hallucination risk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72095" y="8899207"/>
            <a:ext cx="6743809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 spc="-55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Both highly feasable in the time frame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12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052056" y="3206935"/>
            <a:ext cx="158257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Mistral 7B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052056" y="5515160"/>
            <a:ext cx="1825347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Bio-Mistral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052056" y="7823385"/>
            <a:ext cx="1753910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Llama 3 8B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13639" y="904875"/>
            <a:ext cx="13460722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4500" spc="-8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Local LLM for RAG based reasoning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78386" y="3187885"/>
            <a:ext cx="5799537" cy="2798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-55" b="true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Evaluation Criteria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-51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GPU memory usage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-51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Medi</a:t>
            </a:r>
            <a:r>
              <a:rPr lang="en-US" sz="2599" spc="-51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cal terminology accuracy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-51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Hallucination rate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-51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French language quality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-51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Privacy compliance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78386" y="6517825"/>
            <a:ext cx="5799537" cy="1372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spc="-51" b="true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at hand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-51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GPU obligations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-51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Regulatory issues with APIs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13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087775" y="3206935"/>
            <a:ext cx="158257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Mistral 7B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231326" y="3206935"/>
            <a:ext cx="1825347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Bio-Mistral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19024" y="3206935"/>
            <a:ext cx="1753910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Llama 3 8B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13639" y="904875"/>
            <a:ext cx="13460722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4500" spc="-8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Local LLM for RAG based reasoning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13639" y="5153210"/>
            <a:ext cx="4062790" cy="1609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6"/>
              </a:lnSpc>
            </a:pPr>
            <a:r>
              <a:rPr lang="en-US" sz="1961" spc="-39" b="true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Evaluation Criteria</a:t>
            </a:r>
          </a:p>
          <a:p>
            <a:pPr algn="l" marL="393238" indent="-196619" lvl="1">
              <a:lnSpc>
                <a:spcPts val="2549"/>
              </a:lnSpc>
              <a:buFont typeface="Arial"/>
              <a:buChar char="•"/>
            </a:pPr>
            <a:r>
              <a:rPr lang="en-US" sz="1821" spc="-3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high Hardaware &amp; Performance dependencies</a:t>
            </a:r>
          </a:p>
          <a:p>
            <a:pPr algn="l" marL="393238" indent="-196619" lvl="1">
              <a:lnSpc>
                <a:spcPts val="2549"/>
              </a:lnSpc>
              <a:buFont typeface="Arial"/>
              <a:buChar char="•"/>
            </a:pPr>
            <a:r>
              <a:rPr lang="en-US" sz="1821" spc="-3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easier integration</a:t>
            </a:r>
          </a:p>
          <a:p>
            <a:pPr algn="l">
              <a:lnSpc>
                <a:spcPts val="254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7356550" y="5153210"/>
            <a:ext cx="4311965" cy="1957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6"/>
              </a:lnSpc>
            </a:pPr>
            <a:r>
              <a:rPr lang="en-US" sz="1961" spc="-39" b="true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Evaluation Criteria</a:t>
            </a:r>
          </a:p>
          <a:p>
            <a:pPr algn="l" marL="393238" indent="-196619" lvl="1">
              <a:lnSpc>
                <a:spcPts val="2549"/>
              </a:lnSpc>
              <a:buFont typeface="Arial"/>
              <a:buChar char="•"/>
            </a:pPr>
            <a:r>
              <a:rPr lang="en-US" sz="1821" spc="-3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Medical Domain Accuracy</a:t>
            </a:r>
          </a:p>
          <a:p>
            <a:pPr algn="l" marL="393238" indent="-196619" lvl="1">
              <a:lnSpc>
                <a:spcPts val="2549"/>
              </a:lnSpc>
              <a:buFont typeface="Arial"/>
              <a:buChar char="•"/>
            </a:pPr>
            <a:r>
              <a:rPr lang="en-US" sz="1821" spc="-3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Better medical french terminology</a:t>
            </a:r>
          </a:p>
          <a:p>
            <a:pPr algn="l" marL="393238" indent="-196619" lvl="1">
              <a:lnSpc>
                <a:spcPts val="2549"/>
              </a:lnSpc>
              <a:buFont typeface="Arial"/>
              <a:buChar char="•"/>
            </a:pPr>
            <a:r>
              <a:rPr lang="en-US" sz="1821" spc="-3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Rag Compatibility in Medical Grouding</a:t>
            </a:r>
          </a:p>
          <a:p>
            <a:pPr algn="l" marL="393238" indent="-196619" lvl="1">
              <a:lnSpc>
                <a:spcPts val="2549"/>
              </a:lnSpc>
              <a:buFont typeface="Arial"/>
              <a:buChar char="•"/>
            </a:pPr>
            <a:r>
              <a:rPr lang="en-US" sz="1821" spc="-3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Stability under long medical notes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544815" y="5086350"/>
            <a:ext cx="5091490" cy="980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6"/>
              </a:lnSpc>
            </a:pPr>
            <a:r>
              <a:rPr lang="en-US" sz="1961" spc="-39" b="true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Evaluation Criteria</a:t>
            </a:r>
          </a:p>
          <a:p>
            <a:pPr algn="l" marL="393238" indent="-196619" lvl="1">
              <a:lnSpc>
                <a:spcPts val="2549"/>
              </a:lnSpc>
              <a:buFont typeface="Arial"/>
              <a:buChar char="•"/>
            </a:pPr>
            <a:r>
              <a:rPr lang="en-US" sz="1821" spc="-3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RAG Compatibility in instruction following</a:t>
            </a:r>
          </a:p>
          <a:p>
            <a:pPr algn="l" marL="393238" indent="-196619" lvl="1">
              <a:lnSpc>
                <a:spcPts val="2549"/>
              </a:lnSpc>
              <a:buFont typeface="Arial"/>
              <a:buChar char="•"/>
            </a:pPr>
            <a:r>
              <a:rPr lang="en-US" sz="1821" spc="-3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Strong ecosystem / community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38217" y="8644260"/>
            <a:ext cx="11752342" cy="693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6"/>
              </a:lnSpc>
            </a:pPr>
            <a:r>
              <a:rPr lang="en-US" b="true" sz="1961" spc="-3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All LLMs have the same integration methodology with a high feasibility in the 6 months period wih no API externalization and fully cndp compliance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58874" y="2766459"/>
            <a:ext cx="4783685" cy="1093254"/>
          </a:xfrm>
          <a:custGeom>
            <a:avLst/>
            <a:gdLst/>
            <a:ahLst/>
            <a:cxnLst/>
            <a:rect r="r" b="b" t="t" l="l"/>
            <a:pathLst>
              <a:path h="1093254" w="4783685">
                <a:moveTo>
                  <a:pt x="0" y="0"/>
                </a:moveTo>
                <a:lnTo>
                  <a:pt x="4783685" y="0"/>
                </a:lnTo>
                <a:lnTo>
                  <a:pt x="4783685" y="1093254"/>
                </a:lnTo>
                <a:lnTo>
                  <a:pt x="0" y="10932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925" t="-52730" r="-11783" b="-4581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14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13639" y="904875"/>
            <a:ext cx="13460722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4500" spc="-8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BE &amp; FE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730594" y="4792828"/>
            <a:ext cx="4311965" cy="2277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6"/>
              </a:lnSpc>
            </a:pPr>
            <a:r>
              <a:rPr lang="en-US" sz="1961" spc="-39" b="true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Evaluation Criteria</a:t>
            </a:r>
          </a:p>
          <a:p>
            <a:pPr algn="l" marL="393238" indent="-196619" lvl="1">
              <a:lnSpc>
                <a:spcPts val="2549"/>
              </a:lnSpc>
              <a:buFont typeface="Arial"/>
              <a:buChar char="•"/>
            </a:pPr>
            <a:r>
              <a:rPr lang="en-US" b="true" sz="1821" spc="-36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Low complexity</a:t>
            </a:r>
          </a:p>
          <a:p>
            <a:pPr algn="l" marL="393238" indent="-196619" lvl="1">
              <a:lnSpc>
                <a:spcPts val="2549"/>
              </a:lnSpc>
              <a:buFont typeface="Arial"/>
              <a:buChar char="•"/>
            </a:pPr>
            <a:r>
              <a:rPr lang="en-US" sz="1821" spc="-3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High performance</a:t>
            </a:r>
          </a:p>
          <a:p>
            <a:pPr algn="l" marL="393238" indent="-196619" lvl="1">
              <a:lnSpc>
                <a:spcPts val="2549"/>
              </a:lnSpc>
              <a:buFont typeface="Arial"/>
              <a:buChar char="•"/>
            </a:pPr>
            <a:r>
              <a:rPr lang="en-US" sz="1821" spc="-3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excellent security control</a:t>
            </a:r>
          </a:p>
          <a:p>
            <a:pPr algn="l" marL="393238" indent="-196619" lvl="1">
              <a:lnSpc>
                <a:spcPts val="2549"/>
              </a:lnSpc>
              <a:buFont typeface="Arial"/>
              <a:buChar char="•"/>
            </a:pPr>
            <a:r>
              <a:rPr lang="en-US" sz="1821" spc="-3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comfortable with</a:t>
            </a:r>
          </a:p>
          <a:p>
            <a:pPr algn="l" marL="393238" indent="-196619" lvl="1">
              <a:lnSpc>
                <a:spcPts val="2549"/>
              </a:lnSpc>
              <a:buFont typeface="Arial"/>
              <a:buChar char="•"/>
            </a:pPr>
            <a:r>
              <a:rPr lang="en-US" sz="1821" spc="-3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Optimal for RAG + ML integratio</a:t>
            </a:r>
          </a:p>
          <a:p>
            <a:pPr algn="l" marL="393238" indent="-196619" lvl="1">
              <a:lnSpc>
                <a:spcPts val="2549"/>
              </a:lnSpc>
              <a:buFont typeface="Arial"/>
              <a:buChar char="•"/>
            </a:pPr>
            <a:r>
              <a:rPr lang="en-US" sz="1821" spc="-3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JWT + RB Access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1820915" y="2258142"/>
            <a:ext cx="2432934" cy="2109889"/>
          </a:xfrm>
          <a:custGeom>
            <a:avLst/>
            <a:gdLst/>
            <a:ahLst/>
            <a:cxnLst/>
            <a:rect r="r" b="b" t="t" l="l"/>
            <a:pathLst>
              <a:path h="2109889" w="2432934">
                <a:moveTo>
                  <a:pt x="0" y="0"/>
                </a:moveTo>
                <a:lnTo>
                  <a:pt x="2432934" y="0"/>
                </a:lnTo>
                <a:lnTo>
                  <a:pt x="2432934" y="2109889"/>
                </a:lnTo>
                <a:lnTo>
                  <a:pt x="0" y="21098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733473" y="5127073"/>
            <a:ext cx="2607818" cy="1609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6"/>
              </a:lnSpc>
            </a:pPr>
            <a:r>
              <a:rPr lang="en-US" sz="1961" spc="-39" b="true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Evaluation Criteria</a:t>
            </a:r>
          </a:p>
          <a:p>
            <a:pPr algn="l" marL="393238" indent="-196619" lvl="1">
              <a:lnSpc>
                <a:spcPts val="2549"/>
              </a:lnSpc>
              <a:buFont typeface="Arial"/>
              <a:buChar char="•"/>
            </a:pPr>
            <a:r>
              <a:rPr lang="en-US" sz="1821" spc="-3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Low complexity</a:t>
            </a:r>
          </a:p>
          <a:p>
            <a:pPr algn="l" marL="393238" indent="-196619" lvl="1">
              <a:lnSpc>
                <a:spcPts val="2549"/>
              </a:lnSpc>
              <a:buFont typeface="Arial"/>
              <a:buChar char="•"/>
            </a:pPr>
            <a:r>
              <a:rPr lang="en-US" sz="1821" spc="-3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High Scalability</a:t>
            </a:r>
          </a:p>
          <a:p>
            <a:pPr algn="l" marL="393238" indent="-196619" lvl="1">
              <a:lnSpc>
                <a:spcPts val="2549"/>
              </a:lnSpc>
              <a:buFont typeface="Arial"/>
              <a:buChar char="•"/>
            </a:pPr>
            <a:r>
              <a:rPr lang="en-US" sz="1821" spc="-3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Mobile support</a:t>
            </a:r>
          </a:p>
          <a:p>
            <a:pPr algn="l">
              <a:lnSpc>
                <a:spcPts val="2549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15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13639" y="1085497"/>
            <a:ext cx="13460722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4500" spc="-8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Final Tech Stack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848063" y="3096293"/>
            <a:ext cx="6591873" cy="400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7"/>
              </a:lnSpc>
            </a:pPr>
            <a:r>
              <a:rPr lang="en-US" sz="2826" spc="-56" b="true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Feasible &amp; Balanced Architecture:</a:t>
            </a:r>
          </a:p>
          <a:p>
            <a:pPr algn="l">
              <a:lnSpc>
                <a:spcPts val="3957"/>
              </a:lnSpc>
            </a:pPr>
          </a:p>
          <a:p>
            <a:pPr algn="l" marL="469063" indent="-234532" lvl="1">
              <a:lnSpc>
                <a:spcPts val="3041"/>
              </a:lnSpc>
              <a:buFont typeface="Arial"/>
              <a:buChar char="•"/>
            </a:pPr>
            <a:r>
              <a:rPr lang="en-US" sz="2172" spc="-43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Proxmox VE (3 VMs)</a:t>
            </a:r>
          </a:p>
          <a:p>
            <a:pPr algn="l" marL="469063" indent="-234532" lvl="1">
              <a:lnSpc>
                <a:spcPts val="3041"/>
              </a:lnSpc>
              <a:buFont typeface="Arial"/>
              <a:buChar char="•"/>
            </a:pPr>
            <a:r>
              <a:rPr lang="en-US" sz="2172" spc="-43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Mysql</a:t>
            </a:r>
          </a:p>
          <a:p>
            <a:pPr algn="l" marL="469063" indent="-234532" lvl="1">
              <a:lnSpc>
                <a:spcPts val="3041"/>
              </a:lnSpc>
              <a:buFont typeface="Arial"/>
              <a:buChar char="•"/>
            </a:pPr>
            <a:r>
              <a:rPr lang="en-US" sz="2172" spc="-43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Qdrant (vector DB)</a:t>
            </a:r>
          </a:p>
          <a:p>
            <a:pPr algn="l" marL="469063" indent="-234532" lvl="1">
              <a:lnSpc>
                <a:spcPts val="3041"/>
              </a:lnSpc>
              <a:buFont typeface="Arial"/>
              <a:buChar char="•"/>
            </a:pPr>
            <a:r>
              <a:rPr lang="en-US" sz="2172" spc="-43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BioMistral </a:t>
            </a:r>
            <a:r>
              <a:rPr lang="en-US" sz="2172" spc="-43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or Mistral 7B</a:t>
            </a:r>
          </a:p>
          <a:p>
            <a:pPr algn="l" marL="469063" indent="-234532" lvl="1">
              <a:lnSpc>
                <a:spcPts val="3041"/>
              </a:lnSpc>
              <a:buFont typeface="Arial"/>
              <a:buChar char="•"/>
            </a:pPr>
            <a:r>
              <a:rPr lang="en-US" sz="2172" spc="-43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FastAPI backend</a:t>
            </a:r>
          </a:p>
          <a:p>
            <a:pPr algn="l" marL="469063" indent="-234532" lvl="1">
              <a:lnSpc>
                <a:spcPts val="3041"/>
              </a:lnSpc>
              <a:buFont typeface="Arial"/>
              <a:buChar char="•"/>
            </a:pPr>
            <a:r>
              <a:rPr lang="en-US" sz="2172" spc="-43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React frontend</a:t>
            </a:r>
          </a:p>
          <a:p>
            <a:pPr algn="l" marL="469063" indent="-234532" lvl="1">
              <a:lnSpc>
                <a:spcPts val="3041"/>
              </a:lnSpc>
              <a:buFont typeface="Arial"/>
              <a:buChar char="•"/>
            </a:pPr>
            <a:r>
              <a:rPr lang="en-US" sz="2172" spc="-43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JWT + RB access</a:t>
            </a:r>
          </a:p>
          <a:p>
            <a:pPr algn="l">
              <a:lnSpc>
                <a:spcPts val="2883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4601799" y="3237706"/>
          <a:ext cx="3771900" cy="4400550"/>
        </p:xfrm>
        <a:graphic>
          <a:graphicData uri="http://schemas.openxmlformats.org/presentationml/2006/ole">
            <p:oleObj imgW="4648200" imgH="52705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16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13639" y="1085497"/>
            <a:ext cx="13460722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4500" spc="-8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FEASIBILTY SUMMARY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17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13639" y="4676775"/>
            <a:ext cx="13460722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4500" spc="-8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AI Implications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18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13639" y="904875"/>
            <a:ext cx="13460722" cy="72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00"/>
              </a:lnSpc>
              <a:spcBef>
                <a:spcPct val="0"/>
              </a:spcBef>
            </a:pPr>
            <a:r>
              <a:rPr lang="en-US" b="true" sz="4000" spc="-80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AI Implications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937986" y="2546350"/>
            <a:ext cx="14412029" cy="671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Enhanced Data Analysis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AI can process large volumes of structured and unstructured patient data, extracting meaningful patterns from clinical notes, lab results, and imaging.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Clinical Decision Support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AI models can assist rheumatologists in diagnosing conditions, predicting disease progression, and suggesting personalized treatment plans.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Predictive Analytics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AI can identify patients at risk of flares or complications, enabling earlier interventions and preventive care.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Research Facilitation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AI can analyze cohorts across DPIs, identify trends, and support clinical studies without manual data extraction.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Decision Transparency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Advanced models can provide interpretable insights, explaining recommendations to clinicians for better trust and adoption.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19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13639" y="4676775"/>
            <a:ext cx="13460722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4500" spc="-8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DEMO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20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13639" y="4676775"/>
            <a:ext cx="13460722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4500" spc="-8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Discussion &amp; Suggestions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88922" y="2373918"/>
            <a:ext cx="13510155" cy="5539164"/>
          </a:xfrm>
          <a:custGeom>
            <a:avLst/>
            <a:gdLst/>
            <a:ahLst/>
            <a:cxnLst/>
            <a:rect r="r" b="b" t="t" l="l"/>
            <a:pathLst>
              <a:path h="5539164" w="13510155">
                <a:moveTo>
                  <a:pt x="0" y="0"/>
                </a:moveTo>
                <a:lnTo>
                  <a:pt x="13510156" y="0"/>
                </a:lnTo>
                <a:lnTo>
                  <a:pt x="13510156" y="5539164"/>
                </a:lnTo>
                <a:lnTo>
                  <a:pt x="0" y="55391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13575" y="1347885"/>
            <a:ext cx="6245725" cy="1369960"/>
          </a:xfrm>
          <a:custGeom>
            <a:avLst/>
            <a:gdLst/>
            <a:ahLst/>
            <a:cxnLst/>
            <a:rect r="r" b="b" t="t" l="l"/>
            <a:pathLst>
              <a:path h="1369960" w="6245725">
                <a:moveTo>
                  <a:pt x="0" y="0"/>
                </a:moveTo>
                <a:lnTo>
                  <a:pt x="6245725" y="0"/>
                </a:lnTo>
                <a:lnTo>
                  <a:pt x="6245725" y="1369960"/>
                </a:lnTo>
                <a:lnTo>
                  <a:pt x="0" y="13699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674092">
            <a:off x="-5622347" y="7621432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57388" y="9419911"/>
            <a:ext cx="4925136" cy="441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16 February 2025 - 1</a:t>
            </a: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</a:t>
            </a: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Meeting</a:t>
            </a:r>
          </a:p>
        </p:txBody>
      </p:sp>
      <p:sp>
        <p:nvSpPr>
          <p:cNvPr name="Freeform 5" id="5"/>
          <p:cNvSpPr/>
          <p:nvPr/>
        </p:nvSpPr>
        <p:spPr>
          <a:xfrm flipH="true" flipV="true" rot="828919">
            <a:off x="1314936" y="-4031537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19149891" y="6989710"/>
                </a:moveTo>
                <a:lnTo>
                  <a:pt x="0" y="6989710"/>
                </a:lnTo>
                <a:lnTo>
                  <a:pt x="0" y="0"/>
                </a:lnTo>
                <a:lnTo>
                  <a:pt x="19149891" y="0"/>
                </a:lnTo>
                <a:lnTo>
                  <a:pt x="19149891" y="6989710"/>
                </a:lnTo>
                <a:close/>
              </a:path>
            </a:pathLst>
          </a:custGeom>
          <a:blipFill>
            <a:blip r:embed="rId3">
              <a:alphaModFix amt="43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26316" y="1193624"/>
            <a:ext cx="3956208" cy="1678482"/>
          </a:xfrm>
          <a:custGeom>
            <a:avLst/>
            <a:gdLst/>
            <a:ahLst/>
            <a:cxnLst/>
            <a:rect r="r" b="b" t="t" l="l"/>
            <a:pathLst>
              <a:path h="1678482" w="3956208">
                <a:moveTo>
                  <a:pt x="0" y="0"/>
                </a:moveTo>
                <a:lnTo>
                  <a:pt x="3956208" y="0"/>
                </a:lnTo>
                <a:lnTo>
                  <a:pt x="3956208" y="1678482"/>
                </a:lnTo>
                <a:lnTo>
                  <a:pt x="0" y="16784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338" t="-9825" r="-9900" b="-14738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45650" y="4531942"/>
            <a:ext cx="14196700" cy="104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Artificial Intelligence for Patient Management </a:t>
            </a:r>
          </a:p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and Clinical Research in Rheumatology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45650" y="5765754"/>
            <a:ext cx="14196700" cy="798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Developed by:</a:t>
            </a:r>
          </a:p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Mr. Ismail Bakraoui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45650" y="6803387"/>
            <a:ext cx="14196700" cy="798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Under the supervision of :</a:t>
            </a:r>
          </a:p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Dr. Housbane Samy and Dr. Ajbal Khaoula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354813" y="9419911"/>
            <a:ext cx="3446430" cy="441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EMSI - FMPC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DAG5L8rPG5s</dc:identifier>
  <dcterms:modified xsi:type="dcterms:W3CDTF">2011-08-01T06:04:30Z</dcterms:modified>
  <cp:revision>1</cp:revision>
  <dc:title>PFE</dc:title>
</cp:coreProperties>
</file>