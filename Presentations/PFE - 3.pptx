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Bold" charset="1" panose="00000800000000000000"/>
      <p:regular r:id="rId22"/>
    </p:embeddedFont>
    <p:embeddedFont>
      <p:font typeface="Open Sans" charset="1" panose="020B0606030504020204"/>
      <p:regular r:id="rId23"/>
    </p:embeddedFont>
    <p:embeddedFont>
      <p:font typeface="Poppin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13575" y="1347885"/>
            <a:ext cx="6245725" cy="1369960"/>
          </a:xfrm>
          <a:custGeom>
            <a:avLst/>
            <a:gdLst/>
            <a:ahLst/>
            <a:cxnLst/>
            <a:rect r="r" b="b" t="t" l="l"/>
            <a:pathLst>
              <a:path h="1369960" w="6245725">
                <a:moveTo>
                  <a:pt x="0" y="0"/>
                </a:moveTo>
                <a:lnTo>
                  <a:pt x="6245725" y="0"/>
                </a:lnTo>
                <a:lnTo>
                  <a:pt x="6245725" y="1369960"/>
                </a:lnTo>
                <a:lnTo>
                  <a:pt x="0" y="136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74092">
            <a:off x="-5622347" y="762143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7388" y="9419911"/>
            <a:ext cx="5109189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 March 2025 - 3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rd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Meeting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828919">
            <a:off x="1314936" y="-403153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6316" y="1193624"/>
            <a:ext cx="3956208" cy="1678482"/>
          </a:xfrm>
          <a:custGeom>
            <a:avLst/>
            <a:gdLst/>
            <a:ahLst/>
            <a:cxnLst/>
            <a:rect r="r" b="b" t="t" l="l"/>
            <a:pathLst>
              <a:path h="1678482" w="3956208">
                <a:moveTo>
                  <a:pt x="0" y="0"/>
                </a:moveTo>
                <a:lnTo>
                  <a:pt x="3956208" y="0"/>
                </a:lnTo>
                <a:lnTo>
                  <a:pt x="3956208" y="1678482"/>
                </a:lnTo>
                <a:lnTo>
                  <a:pt x="0" y="167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38" t="-9825" r="-9900" b="-1473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45650" y="4531942"/>
            <a:ext cx="14196700" cy="104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 for Patient Management 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and Clinical Research in Rheumatology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5650" y="5765754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by: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Mr. Ismail Bakraoui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5650" y="6803387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 the supervision of 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Dr. Housbane Samy and Dr. Ajbal Khaoula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54813" y="9419911"/>
            <a:ext cx="3446430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EMSI - FMPC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3572" y="1797641"/>
            <a:ext cx="14040856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Virtualization Infrastructure Strategy Using Proxmox 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6593" y="4284589"/>
            <a:ext cx="4655800" cy="1008485"/>
            <a:chOff x="0" y="0"/>
            <a:chExt cx="1226219" cy="2656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6219" cy="265609"/>
            </a:xfrm>
            <a:custGeom>
              <a:avLst/>
              <a:gdLst/>
              <a:ahLst/>
              <a:cxnLst/>
              <a:rect r="r" b="b" t="t" l="l"/>
              <a:pathLst>
                <a:path h="265609" w="1226219">
                  <a:moveTo>
                    <a:pt x="0" y="0"/>
                  </a:moveTo>
                  <a:lnTo>
                    <a:pt x="1226219" y="0"/>
                  </a:lnTo>
                  <a:lnTo>
                    <a:pt x="1226219" y="265609"/>
                  </a:lnTo>
                  <a:lnTo>
                    <a:pt x="0" y="26560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226219" cy="284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Application Server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29105" y="4284589"/>
            <a:ext cx="5277026" cy="1008485"/>
            <a:chOff x="0" y="0"/>
            <a:chExt cx="1389834" cy="2656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9834" cy="265609"/>
            </a:xfrm>
            <a:custGeom>
              <a:avLst/>
              <a:gdLst/>
              <a:ahLst/>
              <a:cxnLst/>
              <a:rect r="r" b="b" t="t" l="l"/>
              <a:pathLst>
                <a:path h="265609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09"/>
                  </a:lnTo>
                  <a:lnTo>
                    <a:pt x="0" y="26560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389834" cy="284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Database Server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982274" y="4284589"/>
            <a:ext cx="5277026" cy="1008485"/>
            <a:chOff x="0" y="0"/>
            <a:chExt cx="1389834" cy="2656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9834" cy="265609"/>
            </a:xfrm>
            <a:custGeom>
              <a:avLst/>
              <a:gdLst/>
              <a:ahLst/>
              <a:cxnLst/>
              <a:rect r="r" b="b" t="t" l="l"/>
              <a:pathLst>
                <a:path h="265609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09"/>
                  </a:lnTo>
                  <a:lnTo>
                    <a:pt x="0" y="26560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389834" cy="284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Engine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113880" y="6156080"/>
            <a:ext cx="5277026" cy="1008806"/>
            <a:chOff x="0" y="0"/>
            <a:chExt cx="1389834" cy="2656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9834" cy="265694"/>
            </a:xfrm>
            <a:custGeom>
              <a:avLst/>
              <a:gdLst/>
              <a:ahLst/>
              <a:cxnLst/>
              <a:rect r="r" b="b" t="t" l="l"/>
              <a:pathLst>
                <a:path h="265694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94"/>
                  </a:lnTo>
                  <a:lnTo>
                    <a:pt x="0" y="26569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389834" cy="28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Backup &amp; Monitoring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52465" y="6156080"/>
            <a:ext cx="5277026" cy="1008806"/>
            <a:chOff x="0" y="0"/>
            <a:chExt cx="1389834" cy="2656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9834" cy="265694"/>
            </a:xfrm>
            <a:custGeom>
              <a:avLst/>
              <a:gdLst/>
              <a:ahLst/>
              <a:cxnLst/>
              <a:rect r="r" b="b" t="t" l="l"/>
              <a:pathLst>
                <a:path h="265694" w="1389834">
                  <a:moveTo>
                    <a:pt x="0" y="0"/>
                  </a:moveTo>
                  <a:lnTo>
                    <a:pt x="1389834" y="0"/>
                  </a:lnTo>
                  <a:lnTo>
                    <a:pt x="1389834" y="265694"/>
                  </a:lnTo>
                  <a:lnTo>
                    <a:pt x="0" y="26569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389834" cy="28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Security Considerations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94728" y="4676775"/>
            <a:ext cx="869854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Server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00111" y="4042904"/>
            <a:ext cx="13687778" cy="359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is virtual machine hosts the hospit</a:t>
            </a: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al information system’s application layer. It manages user access, business logic, and communication between clinical users and backend services. Separating the application layer ensures operational flexibility and controlled maintenance.</a:t>
            </a:r>
          </a:p>
          <a:p>
            <a:pPr algn="l">
              <a:lnSpc>
                <a:spcPts val="3220"/>
              </a:lnSpc>
            </a:pP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Proc</a:t>
            </a: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esses user authentication and application logic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Handles secure communication with the database and AI services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Allows independent updates without impacting other services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794728" y="904875"/>
            <a:ext cx="8698544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Server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1485" y="4676775"/>
            <a:ext cx="1360503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Server (MySQL)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1485" y="904875"/>
            <a:ext cx="13605030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b="true" sz="4000" spc="-8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Server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4781" y="4234123"/>
            <a:ext cx="13738438" cy="326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This virtual machine is dedicated to structured medical data storage, ensuring secure handling of patient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records and clinical information. Isolation strengthens data protection and system integrity.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tores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patient records and clinical acts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Restricted access limited to the application server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Independent resource allocation for performance stability</a:t>
            </a:r>
          </a:p>
          <a:p>
            <a:pPr algn="l">
              <a:lnSpc>
                <a:spcPts val="416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AI ENGINE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8100" y="9048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AI Engine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2669" y="3889190"/>
            <a:ext cx="14802662" cy="326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This virtual machine supports clinical AI processing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and advanc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ed data retrieval mechanisms. Isolation ensures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computational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workloads do not affect core system performance.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Executes AI-based semantic retrieval and analysis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Operates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independent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ly from core database services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Scalable if AI demand increases</a:t>
            </a:r>
          </a:p>
          <a:p>
            <a:pPr algn="l">
              <a:lnSpc>
                <a:spcPts val="416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Backup &amp; Monitoring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8100" y="9048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Backup &amp; Monitoring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2669" y="3966308"/>
            <a:ext cx="14802662" cy="363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3"/>
              </a:lnSpc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This virtual machine ensures operational continuity through automated b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acku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and system supervision. It supports rapid restoration in case of failure.</a:t>
            </a:r>
          </a:p>
          <a:p>
            <a:pPr algn="l">
              <a:lnSpc>
                <a:spcPts val="4163"/>
              </a:lnSpc>
            </a:pP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Scheduled database and VM backups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Snapshot-based recovery capability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Continuous performance and health monitoring</a:t>
            </a:r>
          </a:p>
          <a:p>
            <a:pPr algn="l">
              <a:lnSpc>
                <a:spcPts val="4163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4676775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Considerations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2081702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Considerations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2669" y="4514141"/>
            <a:ext cx="14802662" cy="310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3"/>
              </a:lnSpc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 virtualization model incorporates 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layered security principles aligned with hospital governance standards. Service isolation reduces systemic risk and enhances data protection.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Network segmentation between virtual machines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Role-based access control at infrastructure level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Firewall and controlled internal communication</a:t>
            </a:r>
          </a:p>
          <a:p>
            <a:pPr algn="l">
              <a:lnSpc>
                <a:spcPts val="4163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1414606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Infrastructure Summary – 4 Virtual Machines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2669" y="3435840"/>
            <a:ext cx="14802662" cy="467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3"/>
              </a:lnSpc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The proposed virtualization strategy is structured around four dedicated virtu</a:t>
            </a: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al machines hosted on Proxmox VE. Each VM is assigned a specific operational role to ensure service isolation, stability, and controlled scalability within the hospital information system.</a:t>
            </a:r>
          </a:p>
          <a:p>
            <a:pPr algn="l">
              <a:lnSpc>
                <a:spcPts val="4163"/>
              </a:lnSpc>
            </a:pP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VM 1: Application Server 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VM 2: Database Server 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VM 3: AI Engine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VM 4: Backup &amp; Monitoring</a:t>
            </a:r>
          </a:p>
          <a:p>
            <a:pPr algn="l">
              <a:lnSpc>
                <a:spcPts val="4163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64806"/>
            <a:ext cx="18376521" cy="10651806"/>
          </a:xfrm>
          <a:custGeom>
            <a:avLst/>
            <a:gdLst/>
            <a:ahLst/>
            <a:cxnLst/>
            <a:rect r="r" b="b" t="t" l="l"/>
            <a:pathLst>
              <a:path h="10651806" w="18376521">
                <a:moveTo>
                  <a:pt x="0" y="0"/>
                </a:moveTo>
                <a:lnTo>
                  <a:pt x="18376521" y="0"/>
                </a:lnTo>
                <a:lnTo>
                  <a:pt x="18376521" y="10651806"/>
                </a:lnTo>
                <a:lnTo>
                  <a:pt x="0" y="10651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637" r="0" b="-56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13639" y="1574226"/>
            <a:ext cx="1346072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 spc="-8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Added App Features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72421" y="3597707"/>
            <a:ext cx="10543159" cy="363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New UI For the model cards (appointments, acts and patients)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New calendar system with listing.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New dashboard with a recent activity log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Doctor Profile log in system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PDF extraction and downloading of medical acts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Redone the AI assistant UI and made the buttons work accordingly</a:t>
            </a:r>
          </a:p>
          <a:p>
            <a:pPr algn="l" marL="496571" indent="-248285" lvl="1">
              <a:lnSpc>
                <a:spcPts val="4163"/>
              </a:lnSpc>
              <a:buFont typeface="Arial"/>
              <a:buChar char="•"/>
            </a:pPr>
            <a:r>
              <a:rPr lang="en-US" sz="2300" spc="-46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Real voice extraction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13575" y="1347885"/>
            <a:ext cx="6245725" cy="1369960"/>
          </a:xfrm>
          <a:custGeom>
            <a:avLst/>
            <a:gdLst/>
            <a:ahLst/>
            <a:cxnLst/>
            <a:rect r="r" b="b" t="t" l="l"/>
            <a:pathLst>
              <a:path h="1369960" w="6245725">
                <a:moveTo>
                  <a:pt x="0" y="0"/>
                </a:moveTo>
                <a:lnTo>
                  <a:pt x="6245725" y="0"/>
                </a:lnTo>
                <a:lnTo>
                  <a:pt x="6245725" y="1369960"/>
                </a:lnTo>
                <a:lnTo>
                  <a:pt x="0" y="1369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74092">
            <a:off x="-5622347" y="762143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7388" y="9419911"/>
            <a:ext cx="5109189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 March 2025 - 3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rd</a:t>
            </a: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Meeting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828919">
            <a:off x="1314936" y="-403153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6316" y="1193624"/>
            <a:ext cx="3956208" cy="1678482"/>
          </a:xfrm>
          <a:custGeom>
            <a:avLst/>
            <a:gdLst/>
            <a:ahLst/>
            <a:cxnLst/>
            <a:rect r="r" b="b" t="t" l="l"/>
            <a:pathLst>
              <a:path h="1678482" w="3956208">
                <a:moveTo>
                  <a:pt x="0" y="0"/>
                </a:moveTo>
                <a:lnTo>
                  <a:pt x="3956208" y="0"/>
                </a:lnTo>
                <a:lnTo>
                  <a:pt x="3956208" y="1678482"/>
                </a:lnTo>
                <a:lnTo>
                  <a:pt x="0" y="167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38" t="-9825" r="-9900" b="-1473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45650" y="4531942"/>
            <a:ext cx="14196700" cy="104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 for Patient Management </a:t>
            </a: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and Clinical Research in Rheumatology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5650" y="5765754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by: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Mr. Ismail Bakraoui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5650" y="6803387"/>
            <a:ext cx="14196700" cy="79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 the supervision of 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Dr. Housbane Samy and Dr. Ajbal Khaoula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54813" y="9419911"/>
            <a:ext cx="3446430" cy="44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EMSI - FMPC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DAHCvbtMLbM</dc:identifier>
  <dcterms:modified xsi:type="dcterms:W3CDTF">2011-08-01T06:04:30Z</dcterms:modified>
  <cp:revision>1</cp:revision>
  <dc:title>PFE - 3</dc:title>
</cp:coreProperties>
</file>